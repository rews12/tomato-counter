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Текст выступления (30–60 секунд):</a:t>
            </a:r>
          </a:p>
          <a:p>
            <a:r>
              <a:t>Перед вами AgroVision — локальная платформа для первичного мониторинга томатов. За два дня мы сосредоточились на главном: фотографии действительно проходят компьютерную обработку, объекты выделяются рамками, а результат можно перепроверить и сохранить. Дневник, осторожные рекомендации и учёт лотов расширяют пользовательский сценарий. При этом мы не приписываем системе профессиональную агродиагностику и не утверждаем, что цвет подтверждает качество или безопасность продукции.</a:t>
            </a:r>
          </a:p>
          <a:p/>
          <a:p>
            <a:r>
              <a:t>Переход: Урожай есть. Единой картины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Текст выступления (30–60 секунд):</a:t>
            </a:r>
          </a:p>
          <a:p>
            <a:r>
              <a:t>На одном кусте может быть несколько десятков плодов, часть которых закрыта листьями. В разных условиях освещения даже простое разделение красных и зелёных становится неоднозначным. Одновременно агроном фиксирует поливы, подкормки и наблюдения в разных местах. Наша гипотеза: если объединить первичный подсчёт, ручную проверку и историю растения, процедура осмотра станет более структурированной. Экономию времени мы пока не измеряли.</a:t>
            </a:r>
          </a:p>
          <a:p/>
          <a:p>
            <a:r>
              <a:t>Переход: Считать объекты. Показывать ошибки.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Текст выступления (30–60 секунд):</a:t>
            </a:r>
          </a:p>
          <a:p>
            <a:r>
              <a:t>Главная цель MVP — работа с отдельными видимыми томатами. Мы не просто присваиваем класс фотографии, а находим цветовые кандидаты, формируем рамки, считаем их и разделяем на категории. Важная часть качества — возможность вручную пересмотреть обнаружения и сохранить корректировку. Для защиты подготовлены десять демонстрационных синтетических сцен и три отдельные контрольные. Такой подход позволяет честно воспроизвести тест даже без обученной специализированной нейросети.</a:t>
            </a:r>
          </a:p>
          <a:p/>
          <a:p>
            <a:r>
              <a:t>Переход: Один продукт — четыре сценария.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Текст выступления (30–60 секунд):</a:t>
            </a:r>
          </a:p>
          <a:p>
            <a:r>
              <a:t>У продукта четыре основных сегмента. Малому фермеру важен быстрый подсчёт и сохранение записи. Агроном использует фактические наблюдения и чек-листы, не принимая вывод алгоритма за диагноз. Для тепличного хозяйства важна история по участкам и грядкам, хотя многопользовательский режим ещё не создан. Специалист по компьютерному зрению может воспроизводить ошибки и сопоставлять рамки с эталоном. Таким образом, один и тот же результат становится полезным нескольким ролям.</a:t>
            </a:r>
          </a:p>
          <a:p/>
          <a:p>
            <a:r>
              <a:t>Переход: Изображение → маска → контур → счёт.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Текст выступления (30–60 секунд):</a:t>
            </a:r>
          </a:p>
          <a:p>
            <a:r>
              <a:t>После загрузки FastAPI декодирует реальное изображение. OpenCV переводит его в HSV и выделяет насыщенные красные и зелёные области. Затем идут морфологические операции и поиск внешних контуров с геометрическими фильтрами. Полученные рамки и категории возвращаются в интерфейс. Здесь нет YOLO и фиктивных нейросетевых показателей. Главная слабость метода: зелёный плод может быть похож на лист, а несколько касающихся плодов иногда объединяются.</a:t>
            </a:r>
          </a:p>
          <a:p/>
          <a:p>
            <a:r>
              <a:t>Переход: Цвет — это признак, а не вердикт.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Текст выступления (30–60 секунд):</a:t>
            </a:r>
          </a:p>
          <a:p>
            <a:r>
              <a:t>Для томатов выбран простой визуальный критерий: преобладающая красная или зелёная окраска. Интерфейс показывает две основные категории и отдельно сохраняет неопределённые объекты. Мы не называем геометрический показатель распознавания вероятностью и не делаем из цвета вывод о биологической зрелости. Важны также сорт, стадия выращивания и условия освещения. Поэтому на результатах предусмотрены ручные исправления и прямое предупреждение, что визуальная категория не подтверждает качество продукта.</a:t>
            </a:r>
          </a:p>
          <a:p/>
          <a:p>
            <a:r>
              <a:t>Переход: Листья и почва: признаки, не диагнозы.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Текст выступления (30–60 секунд):</a:t>
            </a:r>
          </a:p>
          <a:p>
            <a:r>
              <a:t>Мы добавили два вспомогательных раздела — состояние растения и поверхность грунта. Их расчёты основаны на общих цветовых и яркостных характеристиках изображения. Система не выделяет каждый лист специализированной моделью и не ставит диагнозы. Для почвы снимок не позволяет определить реальную влажность, кислотность или элементы питания. Пользователь получает список того, что нужно проверить непосредственно на месте, и может сохранить наблюдение.</a:t>
            </a:r>
          </a:p>
          <a:p/>
          <a:p>
            <a:r>
              <a:t>Переход: Рекомендация — проверяемая задача.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Текст выступления (30–60 секунд):</a:t>
            </a:r>
          </a:p>
          <a:p>
            <a:r>
              <a:t>В AgroVision рекомендация устроена не как безусловный совет, а как документируемая задача. Для каждой записи есть наблюдаемый признак, осторожная гипотеза, предлагаемая проверка и статус. После выполнения пользователь фиксирует, что изменилось. По одной фотографии нельзя назначать препарат, дозировку или диагностировать заболевание. Такой формат поддерживает профессиональное решение агронома и позволяет позже сопоставлять действия с историей растения.</a:t>
            </a:r>
          </a:p>
          <a:p/>
          <a:p>
            <a:r>
              <a:t>Переход: История важнее одного снимка.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Текст выступления (30–60 секунд):</a:t>
            </a:r>
          </a:p>
          <a:p>
            <a:r>
              <a:t>После анализа пользователь может сохранить наблюдение в дневник и привязать его к растению. В карточке фиксируются сорт, грядка и дата посадки. Записи хранят фото, мероприятия и результат. Если есть два наблюдения с фотографиями, можно открыть визуальное сравнение, а график количества плодов формируется только на реальных сохранённых в приложении анализах. Без записей он остаётся пустым, а не заполняется демонстрационными цифрами.</a:t>
            </a:r>
          </a:p>
          <a:p/>
          <a:p>
            <a:r>
              <a:t>Переход: От предварительного счёта — к учёту лота.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Текст выступления (30–60 секунд):</a:t>
            </a:r>
          </a:p>
          <a:p>
            <a:r>
              <a:t>Раздел продаж — это реестр товарных партий, не маркетплейс. После анализа пользователь может перенести число визуально красных объектов в черновик лота, но обязательно должен проверить количество, вес, сортность и качество. В лоте есть цена, валюта, единица измерения, покупатель и статус. Все эти данные сохраняются в SQLite. Прототип не подключён к платежам или доставке. Задача — подготовить структурированные данные, а не разрешить продажу по одной фотографии.</a:t>
            </a:r>
          </a:p>
          <a:p/>
          <a:p>
            <a:r>
              <a:t>Переход: Простой стек. Реальный обмен данными.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Текст выступления (30–60 секунд):</a:t>
            </a:r>
          </a:p>
          <a:p>
            <a:r>
              <a:t>Приложение состоит из интерфейса без тяжёлой сборки и Python-сервера. Фронтенд отправляет реальный файл в FastAPI, OpenCV обрабатывает пиксели и возвращает боксы и статистику. Снимки сохраняются под UUID, а история, растения, рекомендации и лоты — в SQLite. Данные остаются на локальном компьютере. Это хорошая архитектура для двухдневной защиты, но не для публичной эксплуатации: авторизация, роли, резервное копирование и защита хранилища ещё не реализованы.</a:t>
            </a:r>
          </a:p>
          <a:p/>
          <a:p>
            <a:r>
              <a:t>Переход: Метрики — фактические, но только на синтетике.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Текст выступления (30–60 секунд):</a:t>
            </a:r>
          </a:p>
          <a:p>
            <a:r>
              <a:t>Мы отделили десять основных синтетических примеров от трёх контрольных. По правилам one-to-one matching при IoU не ниже 0,5 из 31 эталонного плода обнаружено 30, один пропущен. На этом небольшом синтетическом тесте precision равен 100%, recall — примерно 96,77%, средняя абсолютная ошибка счёта — 0,333 плода. Эти показатели не свидетельствуют о качестве на реальных тепличных снимках. Именно этот честный разрыв станет целью следующего этапа.</a:t>
            </a:r>
          </a:p>
          <a:p/>
          <a:p>
            <a:r>
              <a:t>Переход: Быстрое демо ≠ промышленная система.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Текст выступления (30–60 секунд):</a:t>
            </a:r>
          </a:p>
          <a:p>
            <a:r>
              <a:t>Наше сильное решение — работоспособный сквозной процесс и техническая прозрачность. Приложение хранит результаты и позволяет исправлять ошибки. Но цветовая сегментация не умеет надёжно отделять зелёные томаты от листьев на сложном фоне. Риски дальнейшего применения связаны с неправильным учётом, несвоевременным сбором и утечкой данных при публикации без авторизации. Поэтому следующая разработка должна улучшать не столько внешнюю презентацию, сколько реальную проверку CV, безопасность и агрономические правила.</a:t>
            </a:r>
          </a:p>
          <a:p/>
          <a:p>
            <a:r>
              <a:t>Переход: Следующий этап — реальные данные.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Текст выступления (30–60 секунд):</a:t>
            </a:r>
          </a:p>
          <a:p>
            <a:r>
              <a:t>За два дня разумно сфокусироваться на P0: загрузка, детекция, классификация, подсчёт, сравнение с разметкой и воспроизводимость. На P1 построены дневник и локальный учёт. Следующий шаг — собрать фотографии из реальных хозяйств с правами на использование и независимыми аннотациями. Затем можно проверить специализированную YOLO-модель и гибрид с сегментацией. Для эксплуатации понадобятся авторизация, роли, безопасное хранение и мониторинг качества.</a:t>
            </a:r>
          </a:p>
          <a:p/>
          <a:p>
            <a:r>
              <a:t>Переход: Роли есть. ФИО — заполняет команда.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Текст выступления (30–60 секунд):</a:t>
            </a:r>
          </a:p>
          <a:p>
            <a:r>
              <a:t>Для хакатона роли распределяются внутри команды в зависимости от состава. Необходимо назначить одного ответственного за сквозной сценарий, одного — за CV и оценку качества, одного — за интерфейс и эксплуатационный запуск, и одного — за агроконтекст и презентацию. В этой версии реальные имена участников не были предоставлены, поэтому на слайде оставлены редактируемые поля. Такое распределение позволит не потерять главный критерий готовности: новая фотография должна действительно проходить анализ.</a:t>
            </a:r>
          </a:p>
          <a:p/>
          <a:p>
            <a:r>
              <a:t>Переход: Открываем продукт. Показываем работу.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Текст выступления (30–60 секунд):</a:t>
            </a:r>
          </a:p>
          <a:p>
            <a:r>
              <a:t>Завершим не картинкой интерфейса, а коротким запуском. Жюри может передать новое изображение; мы загрузим его через форму и получим реальный ответ OpenCV. Затем изменим категорию или удалим ошибочный объект, сохраним наблюдение и создадим черновик партии. На экране качества покажем, что три контрольных снимка — синтетические, а реальные агрометрики пока не измерены. Следующий шаг продукта — именно независимое тестирование в тепличных условиях.</a:t>
            </a:r>
          </a:p>
          <a:p/>
          <a:p>
            <a:r>
              <a:t>Переход: Пригласить жюри к загрузке нового фото.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65760"/>
            <a:ext cx="146304" cy="146304"/>
          </a:xfrm>
          <a:prstGeom prst="roundRect">
            <a:avLst>
              <a:gd name="adj" fmla="val 11000"/>
            </a:avLst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47472"/>
            <a:ext cx="3657600" cy="2560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200" b="1">
                <a:solidFill>
                  <a:srgbClr val="6D7179"/>
                </a:solidFill>
                <a:latin typeface="Arial"/>
              </a:defRPr>
            </a:pPr>
            <a:r>
              <a:t>AGROVISION  /  ХАКАТОН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347472"/>
            <a:ext cx="3383280" cy="2560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 algn="r">
              <a:lnSpc>
                <a:spcPct val="108000"/>
              </a:lnSpc>
              <a:defRPr sz="1200" b="1">
                <a:solidFill>
                  <a:srgbClr val="6D7179"/>
                </a:solidFill>
                <a:latin typeface="Arial"/>
              </a:defRPr>
            </a:pPr>
            <a:r>
              <a:t>01 / ТИТУЛ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14400"/>
            <a:ext cx="10789920" cy="73152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3600" b="1">
                <a:solidFill>
                  <a:srgbClr val="151515"/>
                </a:solidFill>
                <a:latin typeface="Arial"/>
              </a:defRPr>
            </a:pPr>
            <a:r>
              <a:t>От фотографии — к понятным решениям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46504"/>
            <a:ext cx="10607040" cy="45720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600" b="0">
                <a:solidFill>
                  <a:srgbClr val="6D7179"/>
                </a:solidFill>
                <a:latin typeface="Arial"/>
              </a:defRPr>
            </a:pPr>
            <a:r>
              <a:t>AgroVision / АгроВзгляд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73952"/>
            <a:ext cx="10817352" cy="11887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528816"/>
            <a:ext cx="6400800" cy="18288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000" b="0">
                <a:solidFill>
                  <a:srgbClr val="6D7179"/>
                </a:solidFill>
                <a:latin typeface="Arial"/>
              </a:defRPr>
            </a:pPr>
            <a:r>
              <a:t>AgroVision — локальное демонстрационное решение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510528"/>
            <a:ext cx="1371600" cy="22860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 algn="r">
              <a:lnSpc>
                <a:spcPct val="108000"/>
              </a:lnSpc>
              <a:defRPr sz="1000" b="1">
                <a:solidFill>
                  <a:srgbClr val="6D7179"/>
                </a:solidFill>
                <a:latin typeface="Arial"/>
              </a:defRPr>
            </a:pPr>
            <a:r>
              <a:t>01 / 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_crop_68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0"/>
            <a:ext cx="5925312" cy="68580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13232" y="457200"/>
            <a:ext cx="164592" cy="164592"/>
          </a:xfrm>
          <a:prstGeom prst="roundRect">
            <a:avLst>
              <a:gd name="adj" fmla="val 11000"/>
            </a:avLst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457200"/>
            <a:ext cx="3657600" cy="27432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400" b="1">
                <a:solidFill>
                  <a:srgbClr val="2C6EF2"/>
                </a:solidFill>
                <a:latin typeface="Arial"/>
              </a:defRPr>
            </a:pPr>
            <a:r>
              <a:t>AGROVISION  /  АГРОВЗГЛЯД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097280"/>
            <a:ext cx="5760720" cy="315468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6000"/>
              </a:lnSpc>
              <a:defRPr sz="4300" b="1">
                <a:solidFill>
                  <a:srgbClr val="151515"/>
                </a:solidFill>
                <a:latin typeface="Arial"/>
              </a:defRPr>
            </a:pPr>
            <a:r>
              <a:t>От фотографии</a:t>
            </a:r>
          </a:p>
          <a:p>
            <a:pPr>
              <a:lnSpc>
                <a:spcPct val="106000"/>
              </a:lnSpc>
              <a:defRPr sz="4300" b="1">
                <a:solidFill>
                  <a:srgbClr val="151515"/>
                </a:solidFill>
                <a:latin typeface="Arial"/>
              </a:defRPr>
            </a:pPr>
            <a:r>
              <a:t>растения —</a:t>
            </a:r>
          </a:p>
          <a:p>
            <a:pPr>
              <a:lnSpc>
                <a:spcPct val="106000"/>
              </a:lnSpc>
              <a:defRPr sz="4300" b="1">
                <a:solidFill>
                  <a:srgbClr val="151515"/>
                </a:solidFill>
                <a:latin typeface="Arial"/>
              </a:defRPr>
            </a:pPr>
            <a:r>
              <a:t>к понятным</a:t>
            </a:r>
          </a:p>
          <a:p>
            <a:pPr>
              <a:lnSpc>
                <a:spcPct val="106000"/>
              </a:lnSpc>
              <a:defRPr sz="4300" b="1">
                <a:solidFill>
                  <a:srgbClr val="151515"/>
                </a:solidFill>
                <a:latin typeface="Arial"/>
              </a:defRPr>
            </a:pPr>
            <a:r>
              <a:t>решениям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745736"/>
            <a:ext cx="5303520" cy="64008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600" b="0">
                <a:solidFill>
                  <a:srgbClr val="6D7179"/>
                </a:solidFill>
                <a:latin typeface="Arial"/>
              </a:defRPr>
            </a:pPr>
            <a:r>
              <a:t>Компьютерное зрение  •  Дневник растений  •  Учёт урожая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897880"/>
            <a:ext cx="4480560" cy="411480"/>
          </a:xfrm>
          <a:prstGeom prst="roundRect">
            <a:avLst>
              <a:gd name="adj" fmla="val 11000"/>
            </a:avLst>
          </a:prstGeom>
          <a:solidFill>
            <a:srgbClr val="2C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6" y="5989320"/>
            <a:ext cx="4114800" cy="18288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200" b="1">
                <a:solidFill>
                  <a:srgbClr val="FFFFFF"/>
                </a:solidFill>
                <a:latin typeface="Arial"/>
              </a:defRPr>
            </a:pPr>
            <a:r>
              <a:t>СЕЛЬСКОЕ ХОЗЯЙСТВО  /  КЕЙС 02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83096" y="6099048"/>
            <a:ext cx="5321808" cy="41148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56832" y="6208776"/>
            <a:ext cx="4937760" cy="21031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000" b="0">
                <a:solidFill>
                  <a:srgbClr val="151515"/>
                </a:solidFill>
                <a:latin typeface="Arial"/>
              </a:defRPr>
            </a:pPr>
            <a:r>
              <a:t>AI-сгенерированное иллюстративное фото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65760"/>
            <a:ext cx="146304" cy="146304"/>
          </a:xfrm>
          <a:prstGeom prst="roundRect">
            <a:avLst>
              <a:gd name="adj" fmla="val 11000"/>
            </a:avLst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47472"/>
            <a:ext cx="3657600" cy="2560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200" b="1">
                <a:solidFill>
                  <a:srgbClr val="6D7179"/>
                </a:solidFill>
                <a:latin typeface="Arial"/>
              </a:defRPr>
            </a:pPr>
            <a:r>
              <a:t>AGROVISION  /  ХАКАТОН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347472"/>
            <a:ext cx="3383280" cy="2560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 algn="r">
              <a:lnSpc>
                <a:spcPct val="108000"/>
              </a:lnSpc>
              <a:defRPr sz="1200" b="1">
                <a:solidFill>
                  <a:srgbClr val="6D7179"/>
                </a:solidFill>
                <a:latin typeface="Arial"/>
              </a:defRPr>
            </a:pPr>
            <a:r>
              <a:t>02 / ПРОБЛЕМА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14400"/>
            <a:ext cx="10789920" cy="73152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3600" b="1">
                <a:solidFill>
                  <a:srgbClr val="151515"/>
                </a:solidFill>
                <a:latin typeface="Arial"/>
              </a:defRPr>
            </a:pPr>
            <a:r>
              <a:t>Урожай есть. Единой картины нет.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46504"/>
            <a:ext cx="10607040" cy="45720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600" b="0">
                <a:solidFill>
                  <a:srgbClr val="6D7179"/>
                </a:solidFill>
                <a:latin typeface="Arial"/>
              </a:defRPr>
            </a:pPr>
            <a:r>
              <a:t>Ручной осмотр фрагментирован и субъективен.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73952"/>
            <a:ext cx="10817352" cy="11887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528816"/>
            <a:ext cx="6400800" cy="18288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000" b="0">
                <a:solidFill>
                  <a:srgbClr val="6D7179"/>
                </a:solidFill>
                <a:latin typeface="Arial"/>
              </a:defRPr>
            </a:pPr>
            <a:r>
              <a:t>AgroVision — локальное демонстрационное решение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510528"/>
            <a:ext cx="1371600" cy="22860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 algn="r">
              <a:lnSpc>
                <a:spcPct val="108000"/>
              </a:lnSpc>
              <a:defRPr sz="1000" b="1">
                <a:solidFill>
                  <a:srgbClr val="6D7179"/>
                </a:solidFill>
                <a:latin typeface="Arial"/>
              </a:defRPr>
            </a:pPr>
            <a:r>
              <a:t>02 /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50592"/>
            <a:ext cx="128016" cy="128016"/>
          </a:xfrm>
          <a:prstGeom prst="roundRect">
            <a:avLst>
              <a:gd name="adj" fmla="val 11000"/>
            </a:avLst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423160"/>
            <a:ext cx="4407407" cy="7132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151515"/>
                </a:solidFill>
                <a:latin typeface="Arial"/>
              </a:defRPr>
            </a:pPr>
            <a:r>
              <a:t>Подсчёт занимает время и зависит от наблюдателя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73552"/>
            <a:ext cx="128016" cy="128016"/>
          </a:xfrm>
          <a:prstGeom prst="roundRect">
            <a:avLst>
              <a:gd name="adj" fmla="val 11000"/>
            </a:avLst>
          </a:prstGeom>
          <a:solidFill>
            <a:srgbClr val="2C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246120"/>
            <a:ext cx="4407407" cy="7132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151515"/>
                </a:solidFill>
                <a:latin typeface="Arial"/>
              </a:defRPr>
            </a:pPr>
            <a:r>
              <a:t>Перекрытия, тени и фон искажают оценку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96512"/>
            <a:ext cx="128016" cy="128016"/>
          </a:xfrm>
          <a:prstGeom prst="roundRect">
            <a:avLst>
              <a:gd name="adj" fmla="val 11000"/>
            </a:avLst>
          </a:prstGeom>
          <a:solidFill>
            <a:srgbClr val="2C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069080"/>
            <a:ext cx="4407407" cy="7132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151515"/>
                </a:solidFill>
                <a:latin typeface="Arial"/>
              </a:defRPr>
            </a:pPr>
            <a:r>
              <a:t>Фото и выполненные действия хранятся разрозненно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19472"/>
            <a:ext cx="128016" cy="128016"/>
          </a:xfrm>
          <a:prstGeom prst="roundRect">
            <a:avLst>
              <a:gd name="adj" fmla="val 11000"/>
            </a:avLst>
          </a:prstGeom>
          <a:solidFill>
            <a:srgbClr val="2C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4892040"/>
            <a:ext cx="4407407" cy="7132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151515"/>
                </a:solidFill>
                <a:latin typeface="Arial"/>
              </a:defRPr>
            </a:pPr>
            <a:r>
              <a:t>Сложно сопоставить уход и изменения по датам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16752" y="2441448"/>
            <a:ext cx="2505456" cy="1444752"/>
          </a:xfrm>
          <a:prstGeom prst="roundRect">
            <a:avLst>
              <a:gd name="adj" fmla="val 11000"/>
            </a:avLst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2" y="2587752"/>
            <a:ext cx="548640" cy="41148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2200" b="1">
                <a:solidFill>
                  <a:srgbClr val="2C6EF2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8776" y="3429000"/>
            <a:ext cx="2157984" cy="246888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300" b="1">
                <a:solidFill>
                  <a:srgbClr val="151515"/>
                </a:solidFill>
                <a:latin typeface="Arial"/>
              </a:defRPr>
            </a:pPr>
            <a:r>
              <a:t>ВРЕМЯ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05088" y="2441448"/>
            <a:ext cx="2505456" cy="1444752"/>
          </a:xfrm>
          <a:prstGeom prst="roundRect">
            <a:avLst>
              <a:gd name="adj" fmla="val 11000"/>
            </a:avLst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87967" y="2587752"/>
            <a:ext cx="548640" cy="41148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2200" b="1">
                <a:solidFill>
                  <a:srgbClr val="2C6EF2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97112" y="3429000"/>
            <a:ext cx="2157984" cy="246888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300" b="1">
                <a:solidFill>
                  <a:srgbClr val="151515"/>
                </a:solidFill>
                <a:latin typeface="Arial"/>
              </a:defRPr>
            </a:pPr>
            <a:r>
              <a:t>ОСВЕЩЕНИЕ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16752" y="4096512"/>
            <a:ext cx="2505456" cy="1444752"/>
          </a:xfrm>
          <a:prstGeom prst="roundRect">
            <a:avLst>
              <a:gd name="adj" fmla="val 11000"/>
            </a:avLst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99632" y="4242816"/>
            <a:ext cx="548640" cy="41148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2200" b="1">
                <a:solidFill>
                  <a:srgbClr val="2C6EF2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08776" y="5084064"/>
            <a:ext cx="2157984" cy="246888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300" b="1">
                <a:solidFill>
                  <a:srgbClr val="151515"/>
                </a:solidFill>
                <a:latin typeface="Arial"/>
              </a:defRPr>
            </a:pPr>
            <a:r>
              <a:t>ИСТОРИЯ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05088" y="4096512"/>
            <a:ext cx="2505456" cy="1444752"/>
          </a:xfrm>
          <a:prstGeom prst="roundRect">
            <a:avLst>
              <a:gd name="adj" fmla="val 11000"/>
            </a:avLst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87967" y="4242816"/>
            <a:ext cx="548640" cy="41148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2200" b="1">
                <a:solidFill>
                  <a:srgbClr val="2C6EF2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7112" y="5084064"/>
            <a:ext cx="2157984" cy="246888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300" b="1">
                <a:solidFill>
                  <a:srgbClr val="151515"/>
                </a:solidFill>
                <a:latin typeface="Arial"/>
              </a:defRPr>
            </a:pPr>
            <a:r>
              <a:t>РЕШЕНИЯ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65760"/>
            <a:ext cx="146304" cy="146304"/>
          </a:xfrm>
          <a:prstGeom prst="roundRect">
            <a:avLst>
              <a:gd name="adj" fmla="val 11000"/>
            </a:avLst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47472"/>
            <a:ext cx="3657600" cy="2560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200" b="1">
                <a:solidFill>
                  <a:srgbClr val="6D7179"/>
                </a:solidFill>
                <a:latin typeface="Arial"/>
              </a:defRPr>
            </a:pPr>
            <a:r>
              <a:t>AGROVISION  /  ХАКАТОН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347472"/>
            <a:ext cx="3383280" cy="2560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 algn="r">
              <a:lnSpc>
                <a:spcPct val="108000"/>
              </a:lnSpc>
              <a:defRPr sz="1200" b="1">
                <a:solidFill>
                  <a:srgbClr val="6D7179"/>
                </a:solidFill>
                <a:latin typeface="Arial"/>
              </a:defRPr>
            </a:pPr>
            <a:r>
              <a:t>03 / ЦЕЛЬ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14400"/>
            <a:ext cx="10789920" cy="73152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3600" b="1">
                <a:solidFill>
                  <a:srgbClr val="151515"/>
                </a:solidFill>
                <a:latin typeface="Arial"/>
              </a:defRPr>
            </a:pPr>
            <a:r>
              <a:t>Считать объекты. Показывать ошибки.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46504"/>
            <a:ext cx="10607040" cy="45720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600" b="0">
                <a:solidFill>
                  <a:srgbClr val="6D7179"/>
                </a:solidFill>
                <a:latin typeface="Arial"/>
              </a:defRPr>
            </a:pPr>
            <a:r>
              <a:t>Не классификация всей фотографии, а поиск отдельных плодов.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73952"/>
            <a:ext cx="10817352" cy="11887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528816"/>
            <a:ext cx="6400800" cy="18288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000" b="0">
                <a:solidFill>
                  <a:srgbClr val="6D7179"/>
                </a:solidFill>
                <a:latin typeface="Arial"/>
              </a:defRPr>
            </a:pPr>
            <a:r>
              <a:t>AgroVision — локальное демонстрационное решение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510528"/>
            <a:ext cx="1371600" cy="22860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 algn="r">
              <a:lnSpc>
                <a:spcPct val="108000"/>
              </a:lnSpc>
              <a:defRPr sz="1000" b="1">
                <a:solidFill>
                  <a:srgbClr val="6D7179"/>
                </a:solidFill>
                <a:latin typeface="Arial"/>
              </a:defRPr>
            </a:pPr>
            <a:r>
              <a:t>03 /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50592"/>
            <a:ext cx="128016" cy="128016"/>
          </a:xfrm>
          <a:prstGeom prst="roundRect">
            <a:avLst>
              <a:gd name="adj" fmla="val 11000"/>
            </a:avLst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423160"/>
            <a:ext cx="4407407" cy="7132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151515"/>
                </a:solidFill>
                <a:latin typeface="Arial"/>
              </a:defRPr>
            </a:pPr>
            <a:r>
              <a:t>Найти видимые томаты и нанести bounding boxes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73552"/>
            <a:ext cx="128016" cy="128016"/>
          </a:xfrm>
          <a:prstGeom prst="roundRect">
            <a:avLst>
              <a:gd name="adj" fmla="val 11000"/>
            </a:avLst>
          </a:prstGeom>
          <a:solidFill>
            <a:srgbClr val="2C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246120"/>
            <a:ext cx="4407407" cy="7132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151515"/>
                </a:solidFill>
                <a:latin typeface="Arial"/>
              </a:defRPr>
            </a:pPr>
            <a:r>
              <a:t>Подсчитать красные, зелёные и неопределённые объекты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96512"/>
            <a:ext cx="128016" cy="128016"/>
          </a:xfrm>
          <a:prstGeom prst="roundRect">
            <a:avLst>
              <a:gd name="adj" fmla="val 11000"/>
            </a:avLst>
          </a:prstGeom>
          <a:solidFill>
            <a:srgbClr val="2C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069080"/>
            <a:ext cx="4407407" cy="7132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151515"/>
                </a:solidFill>
                <a:latin typeface="Arial"/>
              </a:defRPr>
            </a:pPr>
            <a:r>
              <a:t>Дать человеку исправить результат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19472"/>
            <a:ext cx="128016" cy="128016"/>
          </a:xfrm>
          <a:prstGeom prst="roundRect">
            <a:avLst>
              <a:gd name="adj" fmla="val 11000"/>
            </a:avLst>
          </a:prstGeom>
          <a:solidFill>
            <a:srgbClr val="2C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4892040"/>
            <a:ext cx="4407407" cy="7132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151515"/>
                </a:solidFill>
                <a:latin typeface="Arial"/>
              </a:defRPr>
            </a:pPr>
            <a:r>
              <a:t>Проверить на трёх отдельных снимках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16752" y="2441448"/>
            <a:ext cx="2505456" cy="1444752"/>
          </a:xfrm>
          <a:prstGeom prst="roundRect">
            <a:avLst>
              <a:gd name="adj" fmla="val 11000"/>
            </a:avLst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2" y="2587752"/>
            <a:ext cx="548640" cy="41148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2200" b="1">
                <a:solidFill>
                  <a:srgbClr val="2C6EF2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8776" y="3429000"/>
            <a:ext cx="2157984" cy="246888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300" b="1">
                <a:solidFill>
                  <a:srgbClr val="151515"/>
                </a:solidFill>
                <a:latin typeface="Arial"/>
              </a:defRPr>
            </a:pPr>
            <a:r>
              <a:t>ЗАГРУЗКА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05088" y="2441448"/>
            <a:ext cx="2505456" cy="1444752"/>
          </a:xfrm>
          <a:prstGeom prst="roundRect">
            <a:avLst>
              <a:gd name="adj" fmla="val 11000"/>
            </a:avLst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87967" y="2587752"/>
            <a:ext cx="548640" cy="41148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2200" b="1">
                <a:solidFill>
                  <a:srgbClr val="2C6EF2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97112" y="3429000"/>
            <a:ext cx="2157984" cy="246888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300" b="1">
                <a:solidFill>
                  <a:srgbClr val="151515"/>
                </a:solidFill>
                <a:latin typeface="Arial"/>
              </a:defRPr>
            </a:pPr>
            <a:r>
              <a:t>ДЕТЕКЦИЯ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16752" y="4096512"/>
            <a:ext cx="2505456" cy="1444752"/>
          </a:xfrm>
          <a:prstGeom prst="roundRect">
            <a:avLst>
              <a:gd name="adj" fmla="val 11000"/>
            </a:avLst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99632" y="4242816"/>
            <a:ext cx="548640" cy="41148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2200" b="1">
                <a:solidFill>
                  <a:srgbClr val="2C6EF2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08776" y="5084064"/>
            <a:ext cx="2157984" cy="246888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300" b="1">
                <a:solidFill>
                  <a:srgbClr val="151515"/>
                </a:solidFill>
                <a:latin typeface="Arial"/>
              </a:defRPr>
            </a:pPr>
            <a:r>
              <a:t>ПРОВЕРКА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05088" y="4096512"/>
            <a:ext cx="2505456" cy="1444752"/>
          </a:xfrm>
          <a:prstGeom prst="roundRect">
            <a:avLst>
              <a:gd name="adj" fmla="val 11000"/>
            </a:avLst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87967" y="4242816"/>
            <a:ext cx="548640" cy="41148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2200" b="1">
                <a:solidFill>
                  <a:srgbClr val="2C6EF2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7112" y="5084064"/>
            <a:ext cx="2157984" cy="246888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300" b="1">
                <a:solidFill>
                  <a:srgbClr val="151515"/>
                </a:solidFill>
                <a:latin typeface="Arial"/>
              </a:defRPr>
            </a:pPr>
            <a:r>
              <a:t>СОХРАНЕНИЕ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65760"/>
            <a:ext cx="146304" cy="146304"/>
          </a:xfrm>
          <a:prstGeom prst="roundRect">
            <a:avLst>
              <a:gd name="adj" fmla="val 11000"/>
            </a:avLst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47472"/>
            <a:ext cx="3657600" cy="2560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200" b="1">
                <a:solidFill>
                  <a:srgbClr val="6D7179"/>
                </a:solidFill>
                <a:latin typeface="Arial"/>
              </a:defRPr>
            </a:pPr>
            <a:r>
              <a:t>AGROVISION  /  ХАКАТОН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347472"/>
            <a:ext cx="3383280" cy="2560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 algn="r">
              <a:lnSpc>
                <a:spcPct val="108000"/>
              </a:lnSpc>
              <a:defRPr sz="1200" b="1">
                <a:solidFill>
                  <a:srgbClr val="6D7179"/>
                </a:solidFill>
                <a:latin typeface="Arial"/>
              </a:defRPr>
            </a:pPr>
            <a:r>
              <a:t>04 / АУДИТОРИЯ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14400"/>
            <a:ext cx="10789920" cy="73152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3600" b="1">
                <a:solidFill>
                  <a:srgbClr val="151515"/>
                </a:solidFill>
                <a:latin typeface="Arial"/>
              </a:defRPr>
            </a:pPr>
            <a:r>
              <a:t>Один продукт — четыре сценария.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46504"/>
            <a:ext cx="10607040" cy="45720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600" b="0">
                <a:solidFill>
                  <a:srgbClr val="6D7179"/>
                </a:solidFill>
                <a:latin typeface="Arial"/>
              </a:defRPr>
            </a:pPr>
            <a:r>
              <a:t>Разные роли используют одну цепочку данных.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73952"/>
            <a:ext cx="10817352" cy="11887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528816"/>
            <a:ext cx="6400800" cy="18288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000" b="0">
                <a:solidFill>
                  <a:srgbClr val="6D7179"/>
                </a:solidFill>
                <a:latin typeface="Arial"/>
              </a:defRPr>
            </a:pPr>
            <a:r>
              <a:t>AgroVision — локальное демонстрационное решение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510528"/>
            <a:ext cx="1371600" cy="22860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 algn="r">
              <a:lnSpc>
                <a:spcPct val="108000"/>
              </a:lnSpc>
              <a:defRPr sz="1000" b="1">
                <a:solidFill>
                  <a:srgbClr val="6D7179"/>
                </a:solidFill>
                <a:latin typeface="Arial"/>
              </a:defRPr>
            </a:pPr>
            <a:r>
              <a:t>04 /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50592"/>
            <a:ext cx="128016" cy="128016"/>
          </a:xfrm>
          <a:prstGeom prst="roundRect">
            <a:avLst>
              <a:gd name="adj" fmla="val 11000"/>
            </a:avLst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423160"/>
            <a:ext cx="4407407" cy="7132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151515"/>
                </a:solidFill>
                <a:latin typeface="Arial"/>
              </a:defRPr>
            </a:pPr>
            <a:r>
              <a:t>Фермер: предварительный учёт и дневник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73552"/>
            <a:ext cx="128016" cy="128016"/>
          </a:xfrm>
          <a:prstGeom prst="roundRect">
            <a:avLst>
              <a:gd name="adj" fmla="val 11000"/>
            </a:avLst>
          </a:prstGeom>
          <a:solidFill>
            <a:srgbClr val="2C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246120"/>
            <a:ext cx="4407407" cy="7132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151515"/>
                </a:solidFill>
                <a:latin typeface="Arial"/>
              </a:defRPr>
            </a:pPr>
            <a:r>
              <a:t>Агроном: наблюдения, проверки и мероприятия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96512"/>
            <a:ext cx="128016" cy="128016"/>
          </a:xfrm>
          <a:prstGeom prst="roundRect">
            <a:avLst>
              <a:gd name="adj" fmla="val 11000"/>
            </a:avLst>
          </a:prstGeom>
          <a:solidFill>
            <a:srgbClr val="2C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069080"/>
            <a:ext cx="4407407" cy="7132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151515"/>
                </a:solidFill>
                <a:latin typeface="Arial"/>
              </a:defRPr>
            </a:pPr>
            <a:r>
              <a:t>Теплица: учёт по грядкам и истории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19472"/>
            <a:ext cx="128016" cy="128016"/>
          </a:xfrm>
          <a:prstGeom prst="roundRect">
            <a:avLst>
              <a:gd name="adj" fmla="val 11000"/>
            </a:avLst>
          </a:prstGeom>
          <a:solidFill>
            <a:srgbClr val="2C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4892040"/>
            <a:ext cx="4407407" cy="7132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151515"/>
                </a:solidFill>
                <a:latin typeface="Arial"/>
              </a:defRPr>
            </a:pPr>
            <a:r>
              <a:t>CV-специалист: разметка и ошибки детектора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16752" y="2441448"/>
            <a:ext cx="2505456" cy="1444752"/>
          </a:xfrm>
          <a:prstGeom prst="roundRect">
            <a:avLst>
              <a:gd name="adj" fmla="val 11000"/>
            </a:avLst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2" y="2587752"/>
            <a:ext cx="548640" cy="41148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2200" b="1">
                <a:solidFill>
                  <a:srgbClr val="2C6EF2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8776" y="3429000"/>
            <a:ext cx="2157984" cy="246888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300" b="1">
                <a:solidFill>
                  <a:srgbClr val="151515"/>
                </a:solidFill>
                <a:latin typeface="Arial"/>
              </a:defRPr>
            </a:pPr>
            <a:r>
              <a:t>ФЕРМЕР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05088" y="2441448"/>
            <a:ext cx="2505456" cy="1444752"/>
          </a:xfrm>
          <a:prstGeom prst="roundRect">
            <a:avLst>
              <a:gd name="adj" fmla="val 11000"/>
            </a:avLst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87967" y="2587752"/>
            <a:ext cx="548640" cy="41148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2200" b="1">
                <a:solidFill>
                  <a:srgbClr val="2C6EF2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97112" y="3429000"/>
            <a:ext cx="2157984" cy="246888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300" b="1">
                <a:solidFill>
                  <a:srgbClr val="151515"/>
                </a:solidFill>
                <a:latin typeface="Arial"/>
              </a:defRPr>
            </a:pPr>
            <a:r>
              <a:t>АГРОНОМ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16752" y="4096512"/>
            <a:ext cx="2505456" cy="1444752"/>
          </a:xfrm>
          <a:prstGeom prst="roundRect">
            <a:avLst>
              <a:gd name="adj" fmla="val 11000"/>
            </a:avLst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99632" y="4242816"/>
            <a:ext cx="548640" cy="41148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2200" b="1">
                <a:solidFill>
                  <a:srgbClr val="2C6EF2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08776" y="5084064"/>
            <a:ext cx="2157984" cy="246888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300" b="1">
                <a:solidFill>
                  <a:srgbClr val="151515"/>
                </a:solidFill>
                <a:latin typeface="Arial"/>
              </a:defRPr>
            </a:pPr>
            <a:r>
              <a:t>ТЕПЛИЦА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05088" y="4096512"/>
            <a:ext cx="2505456" cy="1444752"/>
          </a:xfrm>
          <a:prstGeom prst="roundRect">
            <a:avLst>
              <a:gd name="adj" fmla="val 11000"/>
            </a:avLst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87967" y="4242816"/>
            <a:ext cx="548640" cy="41148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2200" b="1">
                <a:solidFill>
                  <a:srgbClr val="2C6EF2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7112" y="5084064"/>
            <a:ext cx="2157984" cy="246888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300" b="1">
                <a:solidFill>
                  <a:srgbClr val="151515"/>
                </a:solidFill>
                <a:latin typeface="Arial"/>
              </a:defRPr>
            </a:pPr>
            <a:r>
              <a:t>CV ИНЖЕНЕР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65760"/>
            <a:ext cx="146304" cy="146304"/>
          </a:xfrm>
          <a:prstGeom prst="roundRect">
            <a:avLst>
              <a:gd name="adj" fmla="val 11000"/>
            </a:avLst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47472"/>
            <a:ext cx="3657600" cy="2560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200" b="1">
                <a:solidFill>
                  <a:srgbClr val="6D7179"/>
                </a:solidFill>
                <a:latin typeface="Arial"/>
              </a:defRPr>
            </a:pPr>
            <a:r>
              <a:t>AGROVISION  /  ХАКАТОН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347472"/>
            <a:ext cx="3383280" cy="2560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 algn="r">
              <a:lnSpc>
                <a:spcPct val="108000"/>
              </a:lnSpc>
              <a:defRPr sz="1200" b="1">
                <a:solidFill>
                  <a:srgbClr val="6D7179"/>
                </a:solidFill>
                <a:latin typeface="Arial"/>
              </a:defRPr>
            </a:pPr>
            <a:r>
              <a:t>05 / COMPUTER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14400"/>
            <a:ext cx="10789920" cy="73152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3600" b="1">
                <a:solidFill>
                  <a:srgbClr val="151515"/>
                </a:solidFill>
                <a:latin typeface="Arial"/>
              </a:defRPr>
            </a:pPr>
            <a:r>
              <a:t>Изображение → маска → контур → счёт.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46504"/>
            <a:ext cx="10607040" cy="45720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600" b="0">
                <a:solidFill>
                  <a:srgbClr val="6D7179"/>
                </a:solidFill>
                <a:latin typeface="Arial"/>
              </a:defRPr>
            </a:pPr>
            <a:r>
              <a:t>Фактический алгоритм первой версии — OpenCV HSV.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73952"/>
            <a:ext cx="10817352" cy="11887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528816"/>
            <a:ext cx="6400800" cy="18288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000" b="0">
                <a:solidFill>
                  <a:srgbClr val="6D7179"/>
                </a:solidFill>
                <a:latin typeface="Arial"/>
              </a:defRPr>
            </a:pPr>
            <a:r>
              <a:t>AgroVision — локальное демонстрационное решение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510528"/>
            <a:ext cx="1371600" cy="22860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 algn="r">
              <a:lnSpc>
                <a:spcPct val="108000"/>
              </a:lnSpc>
              <a:defRPr sz="1000" b="1">
                <a:solidFill>
                  <a:srgbClr val="6D7179"/>
                </a:solidFill>
                <a:latin typeface="Arial"/>
              </a:defRPr>
            </a:pPr>
            <a:r>
              <a:t>05 /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50592"/>
            <a:ext cx="128016" cy="128016"/>
          </a:xfrm>
          <a:prstGeom prst="roundRect">
            <a:avLst>
              <a:gd name="adj" fmla="val 11000"/>
            </a:avLst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423160"/>
            <a:ext cx="4407407" cy="7132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151515"/>
                </a:solidFill>
                <a:latin typeface="Arial"/>
              </a:defRPr>
            </a:pPr>
            <a:r>
              <a:t>Декодирование JPG / PNG / WebP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73552"/>
            <a:ext cx="128016" cy="128016"/>
          </a:xfrm>
          <a:prstGeom prst="roundRect">
            <a:avLst>
              <a:gd name="adj" fmla="val 11000"/>
            </a:avLst>
          </a:prstGeom>
          <a:solidFill>
            <a:srgbClr val="2C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246120"/>
            <a:ext cx="4407407" cy="7132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151515"/>
                </a:solidFill>
                <a:latin typeface="Arial"/>
              </a:defRPr>
            </a:pPr>
            <a:r>
              <a:t>Красная и зелёная HSV-маски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96512"/>
            <a:ext cx="128016" cy="128016"/>
          </a:xfrm>
          <a:prstGeom prst="roundRect">
            <a:avLst>
              <a:gd name="adj" fmla="val 11000"/>
            </a:avLst>
          </a:prstGeom>
          <a:solidFill>
            <a:srgbClr val="2C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069080"/>
            <a:ext cx="4407407" cy="7132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151515"/>
                </a:solidFill>
                <a:latin typeface="Arial"/>
              </a:defRPr>
            </a:pPr>
            <a:r>
              <a:t>Морфология и поиск контуров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19472"/>
            <a:ext cx="128016" cy="128016"/>
          </a:xfrm>
          <a:prstGeom prst="roundRect">
            <a:avLst>
              <a:gd name="adj" fmla="val 11000"/>
            </a:avLst>
          </a:prstGeom>
          <a:solidFill>
            <a:srgbClr val="2C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4892040"/>
            <a:ext cx="4407407" cy="7132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151515"/>
                </a:solidFill>
                <a:latin typeface="Arial"/>
              </a:defRPr>
            </a:pPr>
            <a:r>
              <a:t>Фильтры формы и координаты рамок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2423160"/>
            <a:ext cx="5257800" cy="3584448"/>
          </a:xfrm>
          <a:prstGeom prst="roundRect">
            <a:avLst>
              <a:gd name="adj" fmla="val 11000"/>
            </a:avLst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v_result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596896"/>
            <a:ext cx="4709160" cy="30358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245352" y="5669280"/>
            <a:ext cx="4846320" cy="219456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100" b="0">
                <a:solidFill>
                  <a:srgbClr val="6D7179"/>
                </a:solidFill>
                <a:latin typeface="Arial"/>
              </a:defRPr>
            </a:pPr>
            <a:r>
              <a:t>Реальная CV-разметка • синтетическое контрольное фото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65760"/>
            <a:ext cx="146304" cy="146304"/>
          </a:xfrm>
          <a:prstGeom prst="roundRect">
            <a:avLst>
              <a:gd name="adj" fmla="val 11000"/>
            </a:avLst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47472"/>
            <a:ext cx="3657600" cy="2560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200" b="1">
                <a:solidFill>
                  <a:srgbClr val="6D7179"/>
                </a:solidFill>
                <a:latin typeface="Arial"/>
              </a:defRPr>
            </a:pPr>
            <a:r>
              <a:t>AGROVISION  /  ХАКАТОН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347472"/>
            <a:ext cx="3383280" cy="2560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 algn="r">
              <a:lnSpc>
                <a:spcPct val="108000"/>
              </a:lnSpc>
              <a:defRPr sz="1200" b="1">
                <a:solidFill>
                  <a:srgbClr val="6D7179"/>
                </a:solidFill>
                <a:latin typeface="Arial"/>
              </a:defRPr>
            </a:pPr>
            <a:r>
              <a:t>06 / ЗРЕЛОСТЬ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14400"/>
            <a:ext cx="10789920" cy="73152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3600" b="1">
                <a:solidFill>
                  <a:srgbClr val="151515"/>
                </a:solidFill>
                <a:latin typeface="Arial"/>
              </a:defRPr>
            </a:pPr>
            <a:r>
              <a:t>Цвет — это признак, а не вердикт.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46504"/>
            <a:ext cx="10607040" cy="45720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600" b="0">
                <a:solidFill>
                  <a:srgbClr val="6D7179"/>
                </a:solidFill>
                <a:latin typeface="Arial"/>
              </a:defRPr>
            </a:pPr>
            <a:r>
              <a:t>Две основные категории и открытая неопределённость.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73952"/>
            <a:ext cx="10817352" cy="11887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528816"/>
            <a:ext cx="6400800" cy="18288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000" b="0">
                <a:solidFill>
                  <a:srgbClr val="6D7179"/>
                </a:solidFill>
                <a:latin typeface="Arial"/>
              </a:defRPr>
            </a:pPr>
            <a:r>
              <a:t>AgroVision — локальное демонстрационное решение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510528"/>
            <a:ext cx="1371600" cy="22860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 algn="r">
              <a:lnSpc>
                <a:spcPct val="108000"/>
              </a:lnSpc>
              <a:defRPr sz="1000" b="1">
                <a:solidFill>
                  <a:srgbClr val="6D7179"/>
                </a:solidFill>
                <a:latin typeface="Arial"/>
              </a:defRPr>
            </a:pPr>
            <a:r>
              <a:t>06 /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50592"/>
            <a:ext cx="128016" cy="128016"/>
          </a:xfrm>
          <a:prstGeom prst="roundRect">
            <a:avLst>
              <a:gd name="adj" fmla="val 11000"/>
            </a:avLst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423160"/>
            <a:ext cx="4407407" cy="7132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151515"/>
                </a:solidFill>
                <a:latin typeface="Arial"/>
              </a:defRPr>
            </a:pPr>
            <a:r>
              <a:t>Красная поверхность → «визуально зрелый»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73552"/>
            <a:ext cx="128016" cy="128016"/>
          </a:xfrm>
          <a:prstGeom prst="roundRect">
            <a:avLst>
              <a:gd name="adj" fmla="val 11000"/>
            </a:avLst>
          </a:prstGeom>
          <a:solidFill>
            <a:srgbClr val="2C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246120"/>
            <a:ext cx="4407407" cy="7132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151515"/>
                </a:solidFill>
                <a:latin typeface="Arial"/>
              </a:defRPr>
            </a:pPr>
            <a:r>
              <a:t>Зелёная поверхность → «визуально незрелый»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96512"/>
            <a:ext cx="128016" cy="128016"/>
          </a:xfrm>
          <a:prstGeom prst="roundRect">
            <a:avLst>
              <a:gd name="adj" fmla="val 11000"/>
            </a:avLst>
          </a:prstGeom>
          <a:solidFill>
            <a:srgbClr val="2C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069080"/>
            <a:ext cx="4407407" cy="7132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151515"/>
                </a:solidFill>
                <a:latin typeface="Arial"/>
              </a:defRPr>
            </a:pPr>
            <a:r>
              <a:t>Неоднозначный объект → «требует уточнения»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19472"/>
            <a:ext cx="128016" cy="128016"/>
          </a:xfrm>
          <a:prstGeom prst="roundRect">
            <a:avLst>
              <a:gd name="adj" fmla="val 11000"/>
            </a:avLst>
          </a:prstGeom>
          <a:solidFill>
            <a:srgbClr val="2C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4892040"/>
            <a:ext cx="4407407" cy="7132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151515"/>
                </a:solidFill>
                <a:latin typeface="Arial"/>
              </a:defRPr>
            </a:pPr>
            <a:r>
              <a:t>Категорию можно изменить вручную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2377440"/>
            <a:ext cx="5303520" cy="978408"/>
          </a:xfrm>
          <a:prstGeom prst="roundRect">
            <a:avLst>
              <a:gd name="adj" fmla="val 11000"/>
            </a:avLst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08776" y="2606040"/>
            <a:ext cx="502920" cy="502920"/>
          </a:xfrm>
          <a:prstGeom prst="roundRect">
            <a:avLst>
              <a:gd name="adj" fmla="val 11000"/>
            </a:avLst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94576" y="2633472"/>
            <a:ext cx="484632" cy="292608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700" b="1">
                <a:solidFill>
                  <a:srgbClr val="2C6EF2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88936" y="2670048"/>
            <a:ext cx="3383280" cy="45720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900" b="1">
                <a:solidFill>
                  <a:srgbClr val="151515"/>
                </a:solidFill>
                <a:latin typeface="Arial"/>
              </a:defRPr>
            </a:pPr>
            <a:r>
              <a:t>Визуально красный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3538728"/>
            <a:ext cx="5303520" cy="978408"/>
          </a:xfrm>
          <a:prstGeom prst="roundRect">
            <a:avLst>
              <a:gd name="adj" fmla="val 11000"/>
            </a:avLst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08776" y="3767328"/>
            <a:ext cx="502920" cy="502920"/>
          </a:xfrm>
          <a:prstGeom prst="roundRect">
            <a:avLst>
              <a:gd name="adj" fmla="val 11000"/>
            </a:avLst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94576" y="3794760"/>
            <a:ext cx="484632" cy="292608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700" b="1">
                <a:solidFill>
                  <a:srgbClr val="2C6EF2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88936" y="3831336"/>
            <a:ext cx="3383280" cy="45720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900" b="1">
                <a:solidFill>
                  <a:srgbClr val="151515"/>
                </a:solidFill>
                <a:latin typeface="Arial"/>
              </a:defRPr>
            </a:pPr>
            <a:r>
              <a:t>Визуально зелёный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4700016"/>
            <a:ext cx="5303520" cy="978408"/>
          </a:xfrm>
          <a:prstGeom prst="roundRect">
            <a:avLst>
              <a:gd name="adj" fmla="val 11000"/>
            </a:avLst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08776" y="4928616"/>
            <a:ext cx="502920" cy="502920"/>
          </a:xfrm>
          <a:prstGeom prst="roundRect">
            <a:avLst>
              <a:gd name="adj" fmla="val 11000"/>
            </a:avLst>
          </a:prstGeom>
          <a:solidFill>
            <a:srgbClr val="A6A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94576" y="4956048"/>
            <a:ext cx="484632" cy="292608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700" b="1">
                <a:solidFill>
                  <a:srgbClr val="2C6EF2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8936" y="4992624"/>
            <a:ext cx="3383280" cy="45720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900" b="1">
                <a:solidFill>
                  <a:srgbClr val="151515"/>
                </a:solidFill>
                <a:latin typeface="Arial"/>
              </a:defRPr>
            </a:pPr>
            <a:r>
              <a:t>Неопределённый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65760"/>
            <a:ext cx="146304" cy="146304"/>
          </a:xfrm>
          <a:prstGeom prst="roundRect">
            <a:avLst>
              <a:gd name="adj" fmla="val 11000"/>
            </a:avLst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47472"/>
            <a:ext cx="3657600" cy="2560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200" b="1">
                <a:solidFill>
                  <a:srgbClr val="6D7179"/>
                </a:solidFill>
                <a:latin typeface="Arial"/>
              </a:defRPr>
            </a:pPr>
            <a:r>
              <a:t>AGROVISION  /  ХАКАТОН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347472"/>
            <a:ext cx="3383280" cy="2560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 algn="r">
              <a:lnSpc>
                <a:spcPct val="108000"/>
              </a:lnSpc>
              <a:defRPr sz="1200" b="1">
                <a:solidFill>
                  <a:srgbClr val="6D7179"/>
                </a:solidFill>
                <a:latin typeface="Arial"/>
              </a:defRPr>
            </a:pPr>
            <a:r>
              <a:t>07 / ОСМОТР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14400"/>
            <a:ext cx="10789920" cy="73152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3600" b="1">
                <a:solidFill>
                  <a:srgbClr val="151515"/>
                </a:solidFill>
                <a:latin typeface="Arial"/>
              </a:defRPr>
            </a:pPr>
            <a:r>
              <a:t>Листья и почва: признаки, не диагнозы.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46504"/>
            <a:ext cx="10607040" cy="45720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600" b="0">
                <a:solidFill>
                  <a:srgbClr val="6D7179"/>
                </a:solidFill>
                <a:latin typeface="Arial"/>
              </a:defRPr>
            </a:pPr>
            <a:r>
              <a:t>Дополнительные модули работают в ограниченном, честном режиме.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73952"/>
            <a:ext cx="10817352" cy="11887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528816"/>
            <a:ext cx="6400800" cy="18288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000" b="0">
                <a:solidFill>
                  <a:srgbClr val="6D7179"/>
                </a:solidFill>
                <a:latin typeface="Arial"/>
              </a:defRPr>
            </a:pPr>
            <a:r>
              <a:t>AgroVision — локальное демонстрационное решение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510528"/>
            <a:ext cx="1371600" cy="22860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 algn="r">
              <a:lnSpc>
                <a:spcPct val="108000"/>
              </a:lnSpc>
              <a:defRPr sz="1000" b="1">
                <a:solidFill>
                  <a:srgbClr val="6D7179"/>
                </a:solidFill>
                <a:latin typeface="Arial"/>
              </a:defRPr>
            </a:pPr>
            <a:r>
              <a:t>07 /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50592"/>
            <a:ext cx="128016" cy="128016"/>
          </a:xfrm>
          <a:prstGeom prst="roundRect">
            <a:avLst>
              <a:gd name="adj" fmla="val 11000"/>
            </a:avLst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423160"/>
            <a:ext cx="4407407" cy="7132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151515"/>
                </a:solidFill>
                <a:latin typeface="Arial"/>
              </a:defRPr>
            </a:pPr>
            <a:r>
              <a:t>Листья: доля зелёных и жёлтых областей кадра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73552"/>
            <a:ext cx="128016" cy="128016"/>
          </a:xfrm>
          <a:prstGeom prst="roundRect">
            <a:avLst>
              <a:gd name="adj" fmla="val 11000"/>
            </a:avLst>
          </a:prstGeom>
          <a:solidFill>
            <a:srgbClr val="2C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246120"/>
            <a:ext cx="4407407" cy="7132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151515"/>
                </a:solidFill>
                <a:latin typeface="Arial"/>
              </a:defRPr>
            </a:pPr>
            <a:r>
              <a:t>Почва: яркость и контраст поверхности на фото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96512"/>
            <a:ext cx="128016" cy="128016"/>
          </a:xfrm>
          <a:prstGeom prst="roundRect">
            <a:avLst>
              <a:gd name="adj" fmla="val 11000"/>
            </a:avLst>
          </a:prstGeom>
          <a:solidFill>
            <a:srgbClr val="2C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069080"/>
            <a:ext cx="4407407" cy="7132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151515"/>
                </a:solidFill>
                <a:latin typeface="Arial"/>
              </a:defRPr>
            </a:pPr>
            <a:r>
              <a:t>Чек-листы наблюдений и повторных проверок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19472"/>
            <a:ext cx="128016" cy="128016"/>
          </a:xfrm>
          <a:prstGeom prst="roundRect">
            <a:avLst>
              <a:gd name="adj" fmla="val 11000"/>
            </a:avLst>
          </a:prstGeom>
          <a:solidFill>
            <a:srgbClr val="2C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4892040"/>
            <a:ext cx="4407407" cy="7132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151515"/>
                </a:solidFill>
                <a:latin typeface="Arial"/>
              </a:defRPr>
            </a:pPr>
            <a:r>
              <a:t>Влажность корней, pH и NPK не определяются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16752" y="2441448"/>
            <a:ext cx="2505456" cy="1444752"/>
          </a:xfrm>
          <a:prstGeom prst="roundRect">
            <a:avLst>
              <a:gd name="adj" fmla="val 11000"/>
            </a:avLst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2" y="2587752"/>
            <a:ext cx="548640" cy="41148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2200" b="1">
                <a:solidFill>
                  <a:srgbClr val="2C6EF2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8776" y="3429000"/>
            <a:ext cx="2157984" cy="246888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300" b="1">
                <a:solidFill>
                  <a:srgbClr val="151515"/>
                </a:solidFill>
                <a:latin typeface="Arial"/>
              </a:defRPr>
            </a:pPr>
            <a:r>
              <a:t>ЛИСТЬЯ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05088" y="2441448"/>
            <a:ext cx="2505456" cy="1444752"/>
          </a:xfrm>
          <a:prstGeom prst="roundRect">
            <a:avLst>
              <a:gd name="adj" fmla="val 11000"/>
            </a:avLst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87967" y="2587752"/>
            <a:ext cx="548640" cy="41148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2200" b="1">
                <a:solidFill>
                  <a:srgbClr val="2C6EF2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97112" y="3429000"/>
            <a:ext cx="2157984" cy="246888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300" b="1">
                <a:solidFill>
                  <a:srgbClr val="151515"/>
                </a:solidFill>
                <a:latin typeface="Arial"/>
              </a:defRPr>
            </a:pPr>
            <a:r>
              <a:t>СТЕБЕЛЬ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16752" y="4096512"/>
            <a:ext cx="2505456" cy="1444752"/>
          </a:xfrm>
          <a:prstGeom prst="roundRect">
            <a:avLst>
              <a:gd name="adj" fmla="val 11000"/>
            </a:avLst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99632" y="4242816"/>
            <a:ext cx="548640" cy="41148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2200" b="1">
                <a:solidFill>
                  <a:srgbClr val="2C6EF2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08776" y="5084064"/>
            <a:ext cx="2157984" cy="246888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300" b="1">
                <a:solidFill>
                  <a:srgbClr val="151515"/>
                </a:solidFill>
                <a:latin typeface="Arial"/>
              </a:defRPr>
            </a:pPr>
            <a:r>
              <a:t>ПОЧВА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05088" y="4096512"/>
            <a:ext cx="2505456" cy="1444752"/>
          </a:xfrm>
          <a:prstGeom prst="roundRect">
            <a:avLst>
              <a:gd name="adj" fmla="val 11000"/>
            </a:avLst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87967" y="4242816"/>
            <a:ext cx="548640" cy="41148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2200" b="1">
                <a:solidFill>
                  <a:srgbClr val="2C6EF2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7112" y="5084064"/>
            <a:ext cx="2157984" cy="246888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300" b="1">
                <a:solidFill>
                  <a:srgbClr val="151515"/>
                </a:solidFill>
                <a:latin typeface="Arial"/>
              </a:defRPr>
            </a:pPr>
            <a:r>
              <a:t>ЧЕК-ЛИСТ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65760"/>
            <a:ext cx="146304" cy="146304"/>
          </a:xfrm>
          <a:prstGeom prst="roundRect">
            <a:avLst>
              <a:gd name="adj" fmla="val 11000"/>
            </a:avLst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47472"/>
            <a:ext cx="3657600" cy="2560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200" b="1">
                <a:solidFill>
                  <a:srgbClr val="6D7179"/>
                </a:solidFill>
                <a:latin typeface="Arial"/>
              </a:defRPr>
            </a:pPr>
            <a:r>
              <a:t>AGROVISION  /  ХАКАТОН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347472"/>
            <a:ext cx="3383280" cy="2560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 algn="r">
              <a:lnSpc>
                <a:spcPct val="108000"/>
              </a:lnSpc>
              <a:defRPr sz="1200" b="1">
                <a:solidFill>
                  <a:srgbClr val="6D7179"/>
                </a:solidFill>
                <a:latin typeface="Arial"/>
              </a:defRPr>
            </a:pPr>
            <a:r>
              <a:t>08 / РЕКОМЕНДАЦИИ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14400"/>
            <a:ext cx="10789920" cy="73152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3600" b="1">
                <a:solidFill>
                  <a:srgbClr val="151515"/>
                </a:solidFill>
                <a:latin typeface="Arial"/>
              </a:defRPr>
            </a:pPr>
            <a:r>
              <a:t>Рекомендация — проверяемая задача.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46504"/>
            <a:ext cx="10607040" cy="45720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600" b="0">
                <a:solidFill>
                  <a:srgbClr val="6D7179"/>
                </a:solidFill>
                <a:latin typeface="Arial"/>
              </a:defRPr>
            </a:pPr>
            <a:r>
              <a:t>Человек принимает решение и фиксирует результат.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73952"/>
            <a:ext cx="10817352" cy="11887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528816"/>
            <a:ext cx="6400800" cy="18288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000" b="0">
                <a:solidFill>
                  <a:srgbClr val="6D7179"/>
                </a:solidFill>
                <a:latin typeface="Arial"/>
              </a:defRPr>
            </a:pPr>
            <a:r>
              <a:t>AgroVision — локальное демонстрационное решение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510528"/>
            <a:ext cx="1371600" cy="22860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 algn="r">
              <a:lnSpc>
                <a:spcPct val="108000"/>
              </a:lnSpc>
              <a:defRPr sz="1000" b="1">
                <a:solidFill>
                  <a:srgbClr val="6D7179"/>
                </a:solidFill>
                <a:latin typeface="Arial"/>
              </a:defRPr>
            </a:pPr>
            <a:r>
              <a:t>08 /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50592"/>
            <a:ext cx="128016" cy="128016"/>
          </a:xfrm>
          <a:prstGeom prst="roundRect">
            <a:avLst>
              <a:gd name="adj" fmla="val 11000"/>
            </a:avLst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423160"/>
            <a:ext cx="4407407" cy="7132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151515"/>
                </a:solidFill>
                <a:latin typeface="Arial"/>
              </a:defRPr>
            </a:pPr>
            <a:r>
              <a:t>Понятный наблюдаемый признак и объяснение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73552"/>
            <a:ext cx="128016" cy="128016"/>
          </a:xfrm>
          <a:prstGeom prst="roundRect">
            <a:avLst>
              <a:gd name="adj" fmla="val 11000"/>
            </a:avLst>
          </a:prstGeom>
          <a:solidFill>
            <a:srgbClr val="2C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246120"/>
            <a:ext cx="4407407" cy="7132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151515"/>
                </a:solidFill>
                <a:latin typeface="Arial"/>
              </a:defRPr>
            </a:pPr>
            <a:r>
              <a:t>Действие: проверить полив, свет, дренаж или листья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96512"/>
            <a:ext cx="128016" cy="128016"/>
          </a:xfrm>
          <a:prstGeom prst="roundRect">
            <a:avLst>
              <a:gd name="adj" fmla="val 11000"/>
            </a:avLst>
          </a:prstGeom>
          <a:solidFill>
            <a:srgbClr val="2C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069080"/>
            <a:ext cx="4407407" cy="7132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151515"/>
                </a:solidFill>
                <a:latin typeface="Arial"/>
              </a:defRPr>
            </a:pPr>
            <a:r>
              <a:t>Уровень определённости и что уточнить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19472"/>
            <a:ext cx="128016" cy="128016"/>
          </a:xfrm>
          <a:prstGeom prst="roundRect">
            <a:avLst>
              <a:gd name="adj" fmla="val 11000"/>
            </a:avLst>
          </a:prstGeom>
          <a:solidFill>
            <a:srgbClr val="2C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4892040"/>
            <a:ext cx="4407407" cy="7132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151515"/>
                </a:solidFill>
                <a:latin typeface="Arial"/>
              </a:defRPr>
            </a:pPr>
            <a:r>
              <a:t>Статусы: новая → запланирована → выполнена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16752" y="2441448"/>
            <a:ext cx="2505456" cy="1444752"/>
          </a:xfrm>
          <a:prstGeom prst="roundRect">
            <a:avLst>
              <a:gd name="adj" fmla="val 11000"/>
            </a:avLst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2" y="2587752"/>
            <a:ext cx="548640" cy="41148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2200" b="1">
                <a:solidFill>
                  <a:srgbClr val="2C6EF2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8776" y="3429000"/>
            <a:ext cx="2157984" cy="246888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300" b="1">
                <a:solidFill>
                  <a:srgbClr val="151515"/>
                </a:solidFill>
                <a:latin typeface="Arial"/>
              </a:defRPr>
            </a:pPr>
            <a:r>
              <a:t>НАБЛЮДАТЬ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05088" y="2441448"/>
            <a:ext cx="2505456" cy="1444752"/>
          </a:xfrm>
          <a:prstGeom prst="roundRect">
            <a:avLst>
              <a:gd name="adj" fmla="val 11000"/>
            </a:avLst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87967" y="2587752"/>
            <a:ext cx="548640" cy="41148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2200" b="1">
                <a:solidFill>
                  <a:srgbClr val="2C6EF2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97112" y="3429000"/>
            <a:ext cx="2157984" cy="246888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300" b="1">
                <a:solidFill>
                  <a:srgbClr val="151515"/>
                </a:solidFill>
                <a:latin typeface="Arial"/>
              </a:defRPr>
            </a:pPr>
            <a:r>
              <a:t>УТОЧНИТЬ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16752" y="4096512"/>
            <a:ext cx="2505456" cy="1444752"/>
          </a:xfrm>
          <a:prstGeom prst="roundRect">
            <a:avLst>
              <a:gd name="adj" fmla="val 11000"/>
            </a:avLst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99632" y="4242816"/>
            <a:ext cx="548640" cy="41148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2200" b="1">
                <a:solidFill>
                  <a:srgbClr val="2C6EF2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08776" y="5084064"/>
            <a:ext cx="2157984" cy="246888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300" b="1">
                <a:solidFill>
                  <a:srgbClr val="151515"/>
                </a:solidFill>
                <a:latin typeface="Arial"/>
              </a:defRPr>
            </a:pPr>
            <a:r>
              <a:t>ЗАПЛАНИРОВАТЬ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05088" y="4096512"/>
            <a:ext cx="2505456" cy="1444752"/>
          </a:xfrm>
          <a:prstGeom prst="roundRect">
            <a:avLst>
              <a:gd name="adj" fmla="val 11000"/>
            </a:avLst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87967" y="4242816"/>
            <a:ext cx="548640" cy="41148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2200" b="1">
                <a:solidFill>
                  <a:srgbClr val="2C6EF2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7112" y="5084064"/>
            <a:ext cx="2157984" cy="246888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300" b="1">
                <a:solidFill>
                  <a:srgbClr val="151515"/>
                </a:solidFill>
                <a:latin typeface="Arial"/>
              </a:defRPr>
            </a:pPr>
            <a:r>
              <a:t>ОЦЕНИТЬ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65760"/>
            <a:ext cx="146304" cy="146304"/>
          </a:xfrm>
          <a:prstGeom prst="roundRect">
            <a:avLst>
              <a:gd name="adj" fmla="val 11000"/>
            </a:avLst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47472"/>
            <a:ext cx="3657600" cy="2560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200" b="1">
                <a:solidFill>
                  <a:srgbClr val="6D7179"/>
                </a:solidFill>
                <a:latin typeface="Arial"/>
              </a:defRPr>
            </a:pPr>
            <a:r>
              <a:t>AGROVISION  /  ХАКАТОН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347472"/>
            <a:ext cx="3383280" cy="2560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 algn="r">
              <a:lnSpc>
                <a:spcPct val="108000"/>
              </a:lnSpc>
              <a:defRPr sz="1200" b="1">
                <a:solidFill>
                  <a:srgbClr val="6D7179"/>
                </a:solidFill>
                <a:latin typeface="Arial"/>
              </a:defRPr>
            </a:pPr>
            <a:r>
              <a:t>09 / ДНЕВНИК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14400"/>
            <a:ext cx="10789920" cy="73152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3600" b="1">
                <a:solidFill>
                  <a:srgbClr val="151515"/>
                </a:solidFill>
                <a:latin typeface="Arial"/>
              </a:defRPr>
            </a:pPr>
            <a:r>
              <a:t>История важнее одного снимка.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46504"/>
            <a:ext cx="10607040" cy="45720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600" b="0">
                <a:solidFill>
                  <a:srgbClr val="6D7179"/>
                </a:solidFill>
                <a:latin typeface="Arial"/>
              </a:defRPr>
            </a:pPr>
            <a:r>
              <a:t>Растения, фото, наблюдения и действия сохраняются.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73952"/>
            <a:ext cx="10817352" cy="11887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528816"/>
            <a:ext cx="6400800" cy="18288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000" b="0">
                <a:solidFill>
                  <a:srgbClr val="6D7179"/>
                </a:solidFill>
                <a:latin typeface="Arial"/>
              </a:defRPr>
            </a:pPr>
            <a:r>
              <a:t>AgroVision — локальное демонстрационное решение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510528"/>
            <a:ext cx="1371600" cy="22860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 algn="r">
              <a:lnSpc>
                <a:spcPct val="108000"/>
              </a:lnSpc>
              <a:defRPr sz="1000" b="1">
                <a:solidFill>
                  <a:srgbClr val="6D7179"/>
                </a:solidFill>
                <a:latin typeface="Arial"/>
              </a:defRPr>
            </a:pPr>
            <a:r>
              <a:t>09 /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50592"/>
            <a:ext cx="128016" cy="128016"/>
          </a:xfrm>
          <a:prstGeom prst="roundRect">
            <a:avLst>
              <a:gd name="adj" fmla="val 11000"/>
            </a:avLst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423160"/>
            <a:ext cx="4407407" cy="7132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151515"/>
                </a:solidFill>
                <a:latin typeface="Arial"/>
              </a:defRPr>
            </a:pPr>
            <a:r>
              <a:t>Карточка сорта, грядки и даты посадки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73552"/>
            <a:ext cx="128016" cy="128016"/>
          </a:xfrm>
          <a:prstGeom prst="roundRect">
            <a:avLst>
              <a:gd name="adj" fmla="val 11000"/>
            </a:avLst>
          </a:prstGeom>
          <a:solidFill>
            <a:srgbClr val="2C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246120"/>
            <a:ext cx="4407407" cy="7132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151515"/>
                </a:solidFill>
                <a:latin typeface="Arial"/>
              </a:defRPr>
            </a:pPr>
            <a:r>
              <a:t>Записи по категориям и датам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96512"/>
            <a:ext cx="128016" cy="128016"/>
          </a:xfrm>
          <a:prstGeom prst="roundRect">
            <a:avLst>
              <a:gd name="adj" fmla="val 11000"/>
            </a:avLst>
          </a:prstGeom>
          <a:solidFill>
            <a:srgbClr val="2C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069080"/>
            <a:ext cx="4407407" cy="7132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151515"/>
                </a:solidFill>
                <a:latin typeface="Arial"/>
              </a:defRPr>
            </a:pPr>
            <a:r>
              <a:t>Снимки, действия, результаты и сравнение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19472"/>
            <a:ext cx="128016" cy="128016"/>
          </a:xfrm>
          <a:prstGeom prst="roundRect">
            <a:avLst>
              <a:gd name="adj" fmla="val 11000"/>
            </a:avLst>
          </a:prstGeom>
          <a:solidFill>
            <a:srgbClr val="2C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4892040"/>
            <a:ext cx="4407407" cy="7132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151515"/>
                </a:solidFill>
                <a:latin typeface="Arial"/>
              </a:defRPr>
            </a:pPr>
            <a:r>
              <a:t>График строится только по сохранённым анализам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6044184"/>
            <a:ext cx="5120640" cy="27432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100" b="0">
                <a:solidFill>
                  <a:srgbClr val="6D7179"/>
                </a:solidFill>
                <a:latin typeface="Arial"/>
              </a:defRPr>
            </a:pPr>
            <a:r>
              <a:t>Экран дневника · тестовая запись, созданная через API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888" y="2487168"/>
            <a:ext cx="5230368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65760"/>
            <a:ext cx="146304" cy="146304"/>
          </a:xfrm>
          <a:prstGeom prst="roundRect">
            <a:avLst>
              <a:gd name="adj" fmla="val 11000"/>
            </a:avLst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47472"/>
            <a:ext cx="3657600" cy="2560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200" b="1">
                <a:solidFill>
                  <a:srgbClr val="6D7179"/>
                </a:solidFill>
                <a:latin typeface="Arial"/>
              </a:defRPr>
            </a:pPr>
            <a:r>
              <a:t>AGROVISION  /  ХАКАТОН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347472"/>
            <a:ext cx="3383280" cy="2560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 algn="r">
              <a:lnSpc>
                <a:spcPct val="108000"/>
              </a:lnSpc>
              <a:defRPr sz="1200" b="1">
                <a:solidFill>
                  <a:srgbClr val="6D7179"/>
                </a:solidFill>
                <a:latin typeface="Arial"/>
              </a:defRPr>
            </a:pPr>
            <a:r>
              <a:t>10 / ЛОТЫ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14400"/>
            <a:ext cx="10789920" cy="73152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3600" b="1">
                <a:solidFill>
                  <a:srgbClr val="151515"/>
                </a:solidFill>
                <a:latin typeface="Arial"/>
              </a:defRPr>
            </a:pPr>
            <a:r>
              <a:t>От предварительного счёта — к учёту лота.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46504"/>
            <a:ext cx="10607040" cy="45720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600" b="0">
                <a:solidFill>
                  <a:srgbClr val="6D7179"/>
                </a:solidFill>
                <a:latin typeface="Arial"/>
              </a:defRPr>
            </a:pPr>
            <a:r>
              <a:t>Количество на фотографии не равно складскому остатку.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73952"/>
            <a:ext cx="10817352" cy="11887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528816"/>
            <a:ext cx="6400800" cy="18288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000" b="0">
                <a:solidFill>
                  <a:srgbClr val="6D7179"/>
                </a:solidFill>
                <a:latin typeface="Arial"/>
              </a:defRPr>
            </a:pPr>
            <a:r>
              <a:t>AgroVision — локальное демонстрационное решение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510528"/>
            <a:ext cx="1371600" cy="22860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 algn="r">
              <a:lnSpc>
                <a:spcPct val="108000"/>
              </a:lnSpc>
              <a:defRPr sz="1000" b="1">
                <a:solidFill>
                  <a:srgbClr val="6D7179"/>
                </a:solidFill>
                <a:latin typeface="Arial"/>
              </a:defRPr>
            </a:pPr>
            <a:r>
              <a:t>10 /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50592"/>
            <a:ext cx="128016" cy="128016"/>
          </a:xfrm>
          <a:prstGeom prst="roundRect">
            <a:avLst>
              <a:gd name="adj" fmla="val 11000"/>
            </a:avLst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423160"/>
            <a:ext cx="4407407" cy="7132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151515"/>
                </a:solidFill>
                <a:latin typeface="Arial"/>
              </a:defRPr>
            </a:pPr>
            <a:r>
              <a:t>Создание черновика после анализа красных объектов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73552"/>
            <a:ext cx="128016" cy="128016"/>
          </a:xfrm>
          <a:prstGeom prst="roundRect">
            <a:avLst>
              <a:gd name="adj" fmla="val 11000"/>
            </a:avLst>
          </a:prstGeom>
          <a:solidFill>
            <a:srgbClr val="2C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246120"/>
            <a:ext cx="4407407" cy="7132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151515"/>
                </a:solidFill>
                <a:latin typeface="Arial"/>
              </a:defRPr>
            </a:pPr>
            <a:r>
              <a:t>Единицы, цена, валюта, покупатель, фотография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96512"/>
            <a:ext cx="128016" cy="128016"/>
          </a:xfrm>
          <a:prstGeom prst="roundRect">
            <a:avLst>
              <a:gd name="adj" fmla="val 11000"/>
            </a:avLst>
          </a:prstGeom>
          <a:solidFill>
            <a:srgbClr val="2C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069080"/>
            <a:ext cx="4407407" cy="7132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151515"/>
                </a:solidFill>
                <a:latin typeface="Arial"/>
              </a:defRPr>
            </a:pPr>
            <a:r>
              <a:t>Статусы: черновик / готов / резерв / продан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19472"/>
            <a:ext cx="128016" cy="128016"/>
          </a:xfrm>
          <a:prstGeom prst="roundRect">
            <a:avLst>
              <a:gd name="adj" fmla="val 11000"/>
            </a:avLst>
          </a:prstGeom>
          <a:solidFill>
            <a:srgbClr val="2C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4892040"/>
            <a:ext cx="4407407" cy="7132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151515"/>
                </a:solidFill>
                <a:latin typeface="Arial"/>
              </a:defRPr>
            </a:pPr>
            <a:r>
              <a:t>Редактирование, удаление, поиск и фильтры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16752" y="2377440"/>
            <a:ext cx="5230368" cy="3630168"/>
          </a:xfrm>
          <a:prstGeom prst="roundRect">
            <a:avLst>
              <a:gd name="adj" fmla="val 11000"/>
            </a:avLst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4496" y="2642616"/>
            <a:ext cx="4572000" cy="292608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300" b="1">
                <a:solidFill>
                  <a:srgbClr val="2C6EF2"/>
                </a:solidFill>
                <a:latin typeface="Arial"/>
              </a:defRPr>
            </a:pPr>
            <a:r>
              <a:t>ЧЕРНОВИК / ПАРТИЯ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8" y="3182112"/>
            <a:ext cx="4480560" cy="45720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2700" b="1">
                <a:solidFill>
                  <a:srgbClr val="151515"/>
                </a:solidFill>
                <a:latin typeface="Arial"/>
              </a:defRPr>
            </a:pPr>
            <a:r>
              <a:t>Томаты · партия №01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849624"/>
            <a:ext cx="100584" cy="100584"/>
          </a:xfrm>
          <a:prstGeom prst="roundRect">
            <a:avLst>
              <a:gd name="adj" fmla="val 11000"/>
            </a:avLst>
          </a:prstGeom>
          <a:solidFill>
            <a:srgbClr val="2C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3776472"/>
            <a:ext cx="4389120" cy="310896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500" b="0">
                <a:solidFill>
                  <a:srgbClr val="151515"/>
                </a:solidFill>
                <a:latin typeface="Arial"/>
              </a:defRPr>
            </a:pPr>
            <a:r>
              <a:t>Количество: подтверждает фермер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4251960"/>
            <a:ext cx="100584" cy="100584"/>
          </a:xfrm>
          <a:prstGeom prst="roundRect">
            <a:avLst>
              <a:gd name="adj" fmla="val 11000"/>
            </a:avLst>
          </a:prstGeom>
          <a:solidFill>
            <a:srgbClr val="2C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5392" y="4178808"/>
            <a:ext cx="4389120" cy="310896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500" b="0">
                <a:solidFill>
                  <a:srgbClr val="151515"/>
                </a:solidFill>
                <a:latin typeface="Arial"/>
              </a:defRPr>
            </a:pPr>
            <a:r>
              <a:t>Цена: вводит пользователь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654296"/>
            <a:ext cx="100584" cy="100584"/>
          </a:xfrm>
          <a:prstGeom prst="roundRect">
            <a:avLst>
              <a:gd name="adj" fmla="val 11000"/>
            </a:avLst>
          </a:prstGeom>
          <a:solidFill>
            <a:srgbClr val="2C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65392" y="4581144"/>
            <a:ext cx="4389120" cy="310896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500" b="0">
                <a:solidFill>
                  <a:srgbClr val="151515"/>
                </a:solidFill>
                <a:latin typeface="Arial"/>
              </a:defRPr>
            </a:pPr>
            <a:r>
              <a:t>Покупатель: по необходимости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5056632"/>
            <a:ext cx="100584" cy="100584"/>
          </a:xfrm>
          <a:prstGeom prst="roundRect">
            <a:avLst>
              <a:gd name="adj" fmla="val 11000"/>
            </a:avLst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65392" y="4983480"/>
            <a:ext cx="4389120" cy="310896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500" b="0">
                <a:solidFill>
                  <a:srgbClr val="151515"/>
                </a:solidFill>
                <a:latin typeface="Arial"/>
              </a:defRPr>
            </a:pPr>
            <a:r>
              <a:t>Статус: Черновик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65760"/>
            <a:ext cx="146304" cy="146304"/>
          </a:xfrm>
          <a:prstGeom prst="roundRect">
            <a:avLst>
              <a:gd name="adj" fmla="val 11000"/>
            </a:avLst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47472"/>
            <a:ext cx="3657600" cy="2560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200" b="1">
                <a:solidFill>
                  <a:srgbClr val="6D7179"/>
                </a:solidFill>
                <a:latin typeface="Arial"/>
              </a:defRPr>
            </a:pPr>
            <a:r>
              <a:t>AGROVISION  /  ХАКАТОН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347472"/>
            <a:ext cx="3383280" cy="2560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 algn="r">
              <a:lnSpc>
                <a:spcPct val="108000"/>
              </a:lnSpc>
              <a:defRPr sz="1200" b="1">
                <a:solidFill>
                  <a:srgbClr val="6D7179"/>
                </a:solidFill>
                <a:latin typeface="Arial"/>
              </a:defRPr>
            </a:pPr>
            <a:r>
              <a:t>11 / АРХИТЕКТУРА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14400"/>
            <a:ext cx="10789920" cy="73152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3600" b="1">
                <a:solidFill>
                  <a:srgbClr val="151515"/>
                </a:solidFill>
                <a:latin typeface="Arial"/>
              </a:defRPr>
            </a:pPr>
            <a:r>
              <a:t>Простой стек. Реальный обмен данными.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46504"/>
            <a:ext cx="10607040" cy="45720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600" b="0">
                <a:solidFill>
                  <a:srgbClr val="6D7179"/>
                </a:solidFill>
                <a:latin typeface="Arial"/>
              </a:defRPr>
            </a:pPr>
            <a:r>
              <a:t>Все ключевые операции идут через локальный API.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73952"/>
            <a:ext cx="10817352" cy="11887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528816"/>
            <a:ext cx="6400800" cy="18288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000" b="0">
                <a:solidFill>
                  <a:srgbClr val="6D7179"/>
                </a:solidFill>
                <a:latin typeface="Arial"/>
              </a:defRPr>
            </a:pPr>
            <a:r>
              <a:t>AgroVision — локальное демонстрационное решение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510528"/>
            <a:ext cx="1371600" cy="22860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 algn="r">
              <a:lnSpc>
                <a:spcPct val="108000"/>
              </a:lnSpc>
              <a:defRPr sz="1000" b="1">
                <a:solidFill>
                  <a:srgbClr val="6D7179"/>
                </a:solidFill>
                <a:latin typeface="Arial"/>
              </a:defRPr>
            </a:pPr>
            <a:r>
              <a:t>11 /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50592"/>
            <a:ext cx="128016" cy="128016"/>
          </a:xfrm>
          <a:prstGeom prst="roundRect">
            <a:avLst>
              <a:gd name="adj" fmla="val 11000"/>
            </a:avLst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423160"/>
            <a:ext cx="4407407" cy="7132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151515"/>
                </a:solidFill>
                <a:latin typeface="Arial"/>
              </a:defRPr>
            </a:pPr>
            <a:r>
              <a:t>Frontend: HTML / CSS / JavaScript, mobile-first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73552"/>
            <a:ext cx="128016" cy="128016"/>
          </a:xfrm>
          <a:prstGeom prst="roundRect">
            <a:avLst>
              <a:gd name="adj" fmla="val 11000"/>
            </a:avLst>
          </a:prstGeom>
          <a:solidFill>
            <a:srgbClr val="2C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246120"/>
            <a:ext cx="4407407" cy="7132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151515"/>
                </a:solidFill>
                <a:latin typeface="Arial"/>
              </a:defRPr>
            </a:pPr>
            <a:r>
              <a:t>Backend: Python / FastAPI / OpenCV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96512"/>
            <a:ext cx="128016" cy="128016"/>
          </a:xfrm>
          <a:prstGeom prst="roundRect">
            <a:avLst>
              <a:gd name="adj" fmla="val 11000"/>
            </a:avLst>
          </a:prstGeom>
          <a:solidFill>
            <a:srgbClr val="2C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069080"/>
            <a:ext cx="4407407" cy="7132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151515"/>
                </a:solidFill>
                <a:latin typeface="Arial"/>
              </a:defRPr>
            </a:pPr>
            <a:r>
              <a:t>Хранение: SQLite и файловая система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19472"/>
            <a:ext cx="128016" cy="128016"/>
          </a:xfrm>
          <a:prstGeom prst="roundRect">
            <a:avLst>
              <a:gd name="adj" fmla="val 11000"/>
            </a:avLst>
          </a:prstGeom>
          <a:solidFill>
            <a:srgbClr val="2C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4892040"/>
            <a:ext cx="4407407" cy="7132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151515"/>
                </a:solidFill>
                <a:latin typeface="Arial"/>
              </a:defRPr>
            </a:pPr>
            <a:r>
              <a:t>API: анализ, история, CRUD, проверка качества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2414016"/>
            <a:ext cx="5102352" cy="722376"/>
          </a:xfrm>
          <a:prstGeom prst="roundRect">
            <a:avLst>
              <a:gd name="adj" fmla="val 11000"/>
            </a:avLst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53328" y="2414016"/>
            <a:ext cx="137160" cy="722376"/>
          </a:xfrm>
          <a:prstGeom prst="rect">
            <a:avLst/>
          </a:prstGeom>
          <a:solidFill>
            <a:srgbClr val="2C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2514600"/>
            <a:ext cx="1225296" cy="34747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600" b="1">
                <a:solidFill>
                  <a:srgbClr val="151515"/>
                </a:solidFill>
                <a:latin typeface="Arial"/>
              </a:defRPr>
            </a:pPr>
            <a:r>
              <a:t>БРАУЗЕР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2542032"/>
            <a:ext cx="3200400" cy="292608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500" b="0">
                <a:solidFill>
                  <a:srgbClr val="6D7179"/>
                </a:solidFill>
                <a:latin typeface="Arial"/>
              </a:defRPr>
            </a:pPr>
            <a:r>
              <a:t>HTML / CSS / JS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118104"/>
            <a:ext cx="457200" cy="201168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500" b="1">
                <a:solidFill>
                  <a:srgbClr val="FF6B00"/>
                </a:solidFill>
                <a:latin typeface="Arial"/>
              </a:defRPr>
            </a:pPr>
            <a: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53328" y="3300984"/>
            <a:ext cx="5102352" cy="722376"/>
          </a:xfrm>
          <a:prstGeom prst="roundRect">
            <a:avLst>
              <a:gd name="adj" fmla="val 11000"/>
            </a:avLst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53328" y="3300984"/>
            <a:ext cx="137160" cy="722376"/>
          </a:xfrm>
          <a:prstGeom prst="rect">
            <a:avLst/>
          </a:prstGeom>
          <a:solidFill>
            <a:srgbClr val="2C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27648" y="3401568"/>
            <a:ext cx="1225296" cy="34747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600" b="1">
                <a:solidFill>
                  <a:srgbClr val="151515"/>
                </a:solidFill>
                <a:latin typeface="Arial"/>
              </a:defRPr>
            </a:pPr>
            <a:r>
              <a:t>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3429000"/>
            <a:ext cx="3200400" cy="292608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500" b="0">
                <a:solidFill>
                  <a:srgbClr val="6D7179"/>
                </a:solidFill>
                <a:latin typeface="Arial"/>
              </a:defRPr>
            </a:pPr>
            <a:r>
              <a:t>FastAPI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005072"/>
            <a:ext cx="457200" cy="201168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500" b="1">
                <a:solidFill>
                  <a:srgbClr val="FF6B00"/>
                </a:solidFill>
                <a:latin typeface="Arial"/>
              </a:defRPr>
            </a:pPr>
            <a:r>
              <a:t>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53328" y="4187952"/>
            <a:ext cx="5102352" cy="722376"/>
          </a:xfrm>
          <a:prstGeom prst="roundRect">
            <a:avLst>
              <a:gd name="adj" fmla="val 11000"/>
            </a:avLst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53328" y="4187952"/>
            <a:ext cx="137160" cy="722376"/>
          </a:xfrm>
          <a:prstGeom prst="rect">
            <a:avLst/>
          </a:prstGeom>
          <a:solidFill>
            <a:srgbClr val="2C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27648" y="4288536"/>
            <a:ext cx="1225296" cy="34747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600" b="1">
                <a:solidFill>
                  <a:srgbClr val="151515"/>
                </a:solidFill>
                <a:latin typeface="Arial"/>
              </a:defRPr>
            </a:pPr>
            <a:r>
              <a:t>CV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79" y="4315968"/>
            <a:ext cx="3200400" cy="292608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500" b="0">
                <a:solidFill>
                  <a:srgbClr val="6D7179"/>
                </a:solidFill>
                <a:latin typeface="Arial"/>
              </a:defRPr>
            </a:pPr>
            <a:r>
              <a:t>OpenCV / HSV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892040"/>
            <a:ext cx="457200" cy="201168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500" b="1">
                <a:solidFill>
                  <a:srgbClr val="FF6B00"/>
                </a:solidFill>
                <a:latin typeface="Arial"/>
              </a:defRPr>
            </a:pPr>
            <a:r>
              <a:t>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53328" y="5074920"/>
            <a:ext cx="5102352" cy="722376"/>
          </a:xfrm>
          <a:prstGeom prst="roundRect">
            <a:avLst>
              <a:gd name="adj" fmla="val 11000"/>
            </a:avLst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53328" y="5074920"/>
            <a:ext cx="137160" cy="722376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27648" y="5175504"/>
            <a:ext cx="1225296" cy="34747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600" b="1">
                <a:solidFill>
                  <a:srgbClr val="151515"/>
                </a:solidFill>
                <a:latin typeface="Arial"/>
              </a:defRPr>
            </a:pPr>
            <a:r>
              <a:t>ДАННЫЕ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6679" y="5202936"/>
            <a:ext cx="3200400" cy="292608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500" b="0">
                <a:solidFill>
                  <a:srgbClr val="6D7179"/>
                </a:solidFill>
                <a:latin typeface="Arial"/>
              </a:defRPr>
            </a:pPr>
            <a:r>
              <a:t>SQLite + JPEG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65760"/>
            <a:ext cx="146304" cy="146304"/>
          </a:xfrm>
          <a:prstGeom prst="roundRect">
            <a:avLst>
              <a:gd name="adj" fmla="val 11000"/>
            </a:avLst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47472"/>
            <a:ext cx="3657600" cy="2560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200" b="1">
                <a:solidFill>
                  <a:srgbClr val="6D7179"/>
                </a:solidFill>
                <a:latin typeface="Arial"/>
              </a:defRPr>
            </a:pPr>
            <a:r>
              <a:t>AGROVISION  /  ХАКАТОН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347472"/>
            <a:ext cx="3383280" cy="2560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 algn="r">
              <a:lnSpc>
                <a:spcPct val="108000"/>
              </a:lnSpc>
              <a:defRPr sz="1200" b="1">
                <a:solidFill>
                  <a:srgbClr val="6D7179"/>
                </a:solidFill>
                <a:latin typeface="Arial"/>
              </a:defRPr>
            </a:pPr>
            <a:r>
              <a:t>12 / ВАЛИДАЦИЯ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14400"/>
            <a:ext cx="10789920" cy="73152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3600" b="1">
                <a:solidFill>
                  <a:srgbClr val="151515"/>
                </a:solidFill>
                <a:latin typeface="Arial"/>
              </a:defRPr>
            </a:pPr>
            <a:r>
              <a:t>Метрики — фактические, но только на синтетике.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46504"/>
            <a:ext cx="10607040" cy="45720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600" b="0">
                <a:solidFill>
                  <a:srgbClr val="6D7179"/>
                </a:solidFill>
                <a:latin typeface="Arial"/>
              </a:defRPr>
            </a:pPr>
            <a:r>
              <a:t>Отложенные 3 изображения, matching IoU ≥ 0,5.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73952"/>
            <a:ext cx="10817352" cy="11887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528816"/>
            <a:ext cx="6400800" cy="18288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000" b="0">
                <a:solidFill>
                  <a:srgbClr val="6D7179"/>
                </a:solidFill>
                <a:latin typeface="Arial"/>
              </a:defRPr>
            </a:pPr>
            <a:r>
              <a:t>AgroVision — локальное демонстрационное решение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510528"/>
            <a:ext cx="1371600" cy="22860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 algn="r">
              <a:lnSpc>
                <a:spcPct val="108000"/>
              </a:lnSpc>
              <a:defRPr sz="1000" b="1">
                <a:solidFill>
                  <a:srgbClr val="6D7179"/>
                </a:solidFill>
                <a:latin typeface="Arial"/>
              </a:defRPr>
            </a:pPr>
            <a:r>
              <a:t>12 /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50592"/>
            <a:ext cx="128016" cy="128016"/>
          </a:xfrm>
          <a:prstGeom prst="roundRect">
            <a:avLst>
              <a:gd name="adj" fmla="val 11000"/>
            </a:avLst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423160"/>
            <a:ext cx="4407407" cy="7132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151515"/>
                </a:solidFill>
                <a:latin typeface="Arial"/>
              </a:defRPr>
            </a:pPr>
            <a:r>
              <a:t>3 фото / 31 эталонных объекта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73552"/>
            <a:ext cx="128016" cy="128016"/>
          </a:xfrm>
          <a:prstGeom prst="roundRect">
            <a:avLst>
              <a:gd name="adj" fmla="val 11000"/>
            </a:avLst>
          </a:prstGeom>
          <a:solidFill>
            <a:srgbClr val="2C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246120"/>
            <a:ext cx="4407407" cy="7132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151515"/>
                </a:solidFill>
                <a:latin typeface="Arial"/>
              </a:defRPr>
            </a:pPr>
            <a:r>
              <a:t>TP=30, FP=0, FN=1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96512"/>
            <a:ext cx="128016" cy="128016"/>
          </a:xfrm>
          <a:prstGeom prst="roundRect">
            <a:avLst>
              <a:gd name="adj" fmla="val 11000"/>
            </a:avLst>
          </a:prstGeom>
          <a:solidFill>
            <a:srgbClr val="2C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069080"/>
            <a:ext cx="4407407" cy="7132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151515"/>
                </a:solidFill>
                <a:latin typeface="Arial"/>
              </a:defRPr>
            </a:pPr>
            <a:r>
              <a:t>Precision 100% · Recall 96.77%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19472"/>
            <a:ext cx="128016" cy="128016"/>
          </a:xfrm>
          <a:prstGeom prst="roundRect">
            <a:avLst>
              <a:gd name="adj" fmla="val 11000"/>
            </a:avLst>
          </a:prstGeom>
          <a:solidFill>
            <a:srgbClr val="2C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4892040"/>
            <a:ext cx="4407407" cy="7132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151515"/>
                </a:solidFill>
                <a:latin typeface="Arial"/>
              </a:defRPr>
            </a:pPr>
            <a:r>
              <a:t>MAE 0.333 объекта на фото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2368296"/>
            <a:ext cx="2487168" cy="1472184"/>
          </a:xfrm>
          <a:prstGeom prst="roundRect">
            <a:avLst>
              <a:gd name="adj" fmla="val 11000"/>
            </a:avLst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2569464"/>
            <a:ext cx="2194560" cy="62179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3600" b="1">
                <a:solidFill>
                  <a:srgbClr val="2C6EF2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4768" y="3346704"/>
            <a:ext cx="2103120" cy="27432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400" b="0">
                <a:solidFill>
                  <a:srgbClr val="6D7179"/>
                </a:solidFill>
                <a:latin typeface="Arial"/>
              </a:defRPr>
            </a:pPr>
            <a:r>
              <a:t>Precision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22792" y="2368296"/>
            <a:ext cx="2487168" cy="1472184"/>
          </a:xfrm>
          <a:prstGeom prst="roundRect">
            <a:avLst>
              <a:gd name="adj" fmla="val 11000"/>
            </a:avLst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05672" y="2569464"/>
            <a:ext cx="2194560" cy="62179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3600" b="1">
                <a:solidFill>
                  <a:srgbClr val="2C6EF2"/>
                </a:solidFill>
                <a:latin typeface="Arial"/>
              </a:defRPr>
            </a:pPr>
            <a:r>
              <a:t>96.77%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3346704"/>
            <a:ext cx="2103120" cy="27432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400" b="0">
                <a:solidFill>
                  <a:srgbClr val="6D7179"/>
                </a:solidFill>
                <a:latin typeface="Arial"/>
              </a:defRPr>
            </a:pPr>
            <a:r>
              <a:t>Recall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4041648"/>
            <a:ext cx="2487168" cy="1472184"/>
          </a:xfrm>
          <a:prstGeom prst="roundRect">
            <a:avLst>
              <a:gd name="adj" fmla="val 11000"/>
            </a:avLst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4242816"/>
            <a:ext cx="2194560" cy="62179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3600" b="1">
                <a:solidFill>
                  <a:srgbClr val="151515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5020056"/>
            <a:ext cx="2103120" cy="27432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400" b="0">
                <a:solidFill>
                  <a:srgbClr val="6D7179"/>
                </a:solidFill>
                <a:latin typeface="Arial"/>
              </a:defRPr>
            </a:pPr>
            <a:r>
              <a:t>Пропущен плод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22792" y="4041648"/>
            <a:ext cx="2487168" cy="1472184"/>
          </a:xfrm>
          <a:prstGeom prst="roundRect">
            <a:avLst>
              <a:gd name="adj" fmla="val 11000"/>
            </a:avLst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05672" y="4242816"/>
            <a:ext cx="2194560" cy="62179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3600" b="1">
                <a:solidFill>
                  <a:srgbClr val="151515"/>
                </a:solidFill>
                <a:latin typeface="Arial"/>
              </a:defRPr>
            </a:pPr>
            <a:r>
              <a:t>0.333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5020056"/>
            <a:ext cx="2103120" cy="27432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400" b="0">
                <a:solidFill>
                  <a:srgbClr val="6D7179"/>
                </a:solidFill>
                <a:latin typeface="Arial"/>
              </a:defRPr>
            </a:pPr>
            <a:r>
              <a:t>MAE / фото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65760"/>
            <a:ext cx="146304" cy="146304"/>
          </a:xfrm>
          <a:prstGeom prst="roundRect">
            <a:avLst>
              <a:gd name="adj" fmla="val 11000"/>
            </a:avLst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47472"/>
            <a:ext cx="3657600" cy="2560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200" b="1">
                <a:solidFill>
                  <a:srgbClr val="6D7179"/>
                </a:solidFill>
                <a:latin typeface="Arial"/>
              </a:defRPr>
            </a:pPr>
            <a:r>
              <a:t>AGROVISION  /  ХАКАТОН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347472"/>
            <a:ext cx="3383280" cy="2560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 algn="r">
              <a:lnSpc>
                <a:spcPct val="108000"/>
              </a:lnSpc>
              <a:defRPr sz="1200" b="1">
                <a:solidFill>
                  <a:srgbClr val="6D7179"/>
                </a:solidFill>
                <a:latin typeface="Arial"/>
              </a:defRPr>
            </a:pPr>
            <a:r>
              <a:t>13 / ЧЕСТНАЯ ОЦЕНКА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14400"/>
            <a:ext cx="10789920" cy="73152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3600" b="1">
                <a:solidFill>
                  <a:srgbClr val="151515"/>
                </a:solidFill>
                <a:latin typeface="Arial"/>
              </a:defRPr>
            </a:pPr>
            <a:r>
              <a:t>Быстрое демо ≠ промышленная система.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46504"/>
            <a:ext cx="10607040" cy="45720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600" b="0">
                <a:solidFill>
                  <a:srgbClr val="6D7179"/>
                </a:solidFill>
                <a:latin typeface="Arial"/>
              </a:defRPr>
            </a:pPr>
            <a:r>
              <a:t>Плюсы сильны в учёте, ограничения — в CV и данных.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73952"/>
            <a:ext cx="10817352" cy="11887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528816"/>
            <a:ext cx="6400800" cy="18288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000" b="0">
                <a:solidFill>
                  <a:srgbClr val="6D7179"/>
                </a:solidFill>
                <a:latin typeface="Arial"/>
              </a:defRPr>
            </a:pPr>
            <a:r>
              <a:t>AgroVision — локальное демонстрационное решение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510528"/>
            <a:ext cx="1371600" cy="22860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 algn="r">
              <a:lnSpc>
                <a:spcPct val="108000"/>
              </a:lnSpc>
              <a:defRPr sz="1000" b="1">
                <a:solidFill>
                  <a:srgbClr val="6D7179"/>
                </a:solidFill>
                <a:latin typeface="Arial"/>
              </a:defRPr>
            </a:pPr>
            <a:r>
              <a:t>13 /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50592"/>
            <a:ext cx="128016" cy="128016"/>
          </a:xfrm>
          <a:prstGeom prst="roundRect">
            <a:avLst>
              <a:gd name="adj" fmla="val 11000"/>
            </a:avLst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423160"/>
            <a:ext cx="4407407" cy="7132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151515"/>
                </a:solidFill>
                <a:latin typeface="Arial"/>
              </a:defRPr>
            </a:pPr>
            <a:r>
              <a:t>Плюс: реальная разметка, редактирование, история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73552"/>
            <a:ext cx="128016" cy="128016"/>
          </a:xfrm>
          <a:prstGeom prst="roundRect">
            <a:avLst>
              <a:gd name="adj" fmla="val 11000"/>
            </a:avLst>
          </a:prstGeom>
          <a:solidFill>
            <a:srgbClr val="2C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246120"/>
            <a:ext cx="4407407" cy="7132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151515"/>
                </a:solidFill>
                <a:latin typeface="Arial"/>
              </a:defRPr>
            </a:pPr>
            <a:r>
              <a:t>Риск: листва, перекрытия, тени и разные камеры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96512"/>
            <a:ext cx="128016" cy="128016"/>
          </a:xfrm>
          <a:prstGeom prst="roundRect">
            <a:avLst>
              <a:gd name="adj" fmla="val 11000"/>
            </a:avLst>
          </a:prstGeom>
          <a:solidFill>
            <a:srgbClr val="2C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069080"/>
            <a:ext cx="4407407" cy="7132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151515"/>
                </a:solidFill>
                <a:latin typeface="Arial"/>
              </a:defRPr>
            </a:pPr>
            <a:r>
              <a:t>Риск: ошибочные рекомендации и товарные решения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19472"/>
            <a:ext cx="128016" cy="128016"/>
          </a:xfrm>
          <a:prstGeom prst="roundRect">
            <a:avLst>
              <a:gd name="adj" fmla="val 11000"/>
            </a:avLst>
          </a:prstGeom>
          <a:solidFill>
            <a:srgbClr val="2C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4892040"/>
            <a:ext cx="4407407" cy="7132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151515"/>
                </a:solidFill>
                <a:latin typeface="Arial"/>
              </a:defRPr>
            </a:pPr>
            <a:r>
              <a:t>Решение: ревизия человеком, локальность, новые датасеты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2514600"/>
            <a:ext cx="5184648" cy="685800"/>
          </a:xfrm>
          <a:prstGeom prst="roundRect">
            <a:avLst>
              <a:gd name="adj" fmla="val 11000"/>
            </a:avLst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5352" y="2670048"/>
            <a:ext cx="3017520" cy="41148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600" b="1">
                <a:solidFill>
                  <a:srgbClr val="151515"/>
                </a:solidFill>
                <a:latin typeface="Arial"/>
              </a:defRPr>
            </a:pPr>
            <a:r>
              <a:t>Листья ≈ зелёные плоды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2724912"/>
            <a:ext cx="1563624" cy="237744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300" b="1">
                <a:solidFill>
                  <a:srgbClr val="FF6B00"/>
                </a:solidFill>
                <a:latin typeface="Arial"/>
              </a:defRPr>
            </a:pPr>
            <a:r>
              <a:t>Высокий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9320" y="3364992"/>
            <a:ext cx="5184648" cy="685800"/>
          </a:xfrm>
          <a:prstGeom prst="roundRect">
            <a:avLst>
              <a:gd name="adj" fmla="val 11000"/>
            </a:avLst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520440"/>
            <a:ext cx="3017520" cy="41148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600" b="1">
                <a:solidFill>
                  <a:srgbClr val="151515"/>
                </a:solidFill>
                <a:latin typeface="Arial"/>
              </a:defRPr>
            </a:pPr>
            <a:r>
              <a:t>Перекрытия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3575304"/>
            <a:ext cx="1563624" cy="237744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300" b="1">
                <a:solidFill>
                  <a:srgbClr val="FF6B00"/>
                </a:solidFill>
                <a:latin typeface="Arial"/>
              </a:defRPr>
            </a:pPr>
            <a:r>
              <a:t>Высокий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89320" y="4215384"/>
            <a:ext cx="5184648" cy="685800"/>
          </a:xfrm>
          <a:prstGeom prst="roundRect">
            <a:avLst>
              <a:gd name="adj" fmla="val 11000"/>
            </a:avLst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2" y="4370832"/>
            <a:ext cx="3017520" cy="41148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600" b="1">
                <a:solidFill>
                  <a:srgbClr val="151515"/>
                </a:solidFill>
                <a:latin typeface="Arial"/>
              </a:defRPr>
            </a:pPr>
            <a:r>
              <a:t>Публикация без auth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4425696"/>
            <a:ext cx="1563624" cy="237744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300" b="1">
                <a:solidFill>
                  <a:srgbClr val="C44336"/>
                </a:solidFill>
                <a:latin typeface="Arial"/>
              </a:defRPr>
            </a:pPr>
            <a:r>
              <a:t>Высокий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89320" y="5065776"/>
            <a:ext cx="5184648" cy="685800"/>
          </a:xfrm>
          <a:prstGeom prst="roundRect">
            <a:avLst>
              <a:gd name="adj" fmla="val 11000"/>
            </a:avLst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45352" y="5221224"/>
            <a:ext cx="3017520" cy="41148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600" b="1">
                <a:solidFill>
                  <a:srgbClr val="151515"/>
                </a:solidFill>
                <a:latin typeface="Arial"/>
              </a:defRPr>
            </a:pPr>
            <a:r>
              <a:t>Визуальная категория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5276088"/>
            <a:ext cx="1563624" cy="237744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300" b="1">
                <a:solidFill>
                  <a:srgbClr val="2C6EF2"/>
                </a:solidFill>
                <a:latin typeface="Arial"/>
              </a:defRPr>
            </a:pPr>
            <a:r>
              <a:t>Проверять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65760"/>
            <a:ext cx="146304" cy="146304"/>
          </a:xfrm>
          <a:prstGeom prst="roundRect">
            <a:avLst>
              <a:gd name="adj" fmla="val 11000"/>
            </a:avLst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47472"/>
            <a:ext cx="3657600" cy="2560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200" b="1">
                <a:solidFill>
                  <a:srgbClr val="6D7179"/>
                </a:solidFill>
                <a:latin typeface="Arial"/>
              </a:defRPr>
            </a:pPr>
            <a:r>
              <a:t>AGROVISION  /  ХАКАТОН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347472"/>
            <a:ext cx="3383280" cy="2560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 algn="r">
              <a:lnSpc>
                <a:spcPct val="108000"/>
              </a:lnSpc>
              <a:defRPr sz="1200" b="1">
                <a:solidFill>
                  <a:srgbClr val="6D7179"/>
                </a:solidFill>
                <a:latin typeface="Arial"/>
              </a:defRPr>
            </a:pPr>
            <a:r>
              <a:t>14 /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14400"/>
            <a:ext cx="10789920" cy="73152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3600" b="1">
                <a:solidFill>
                  <a:srgbClr val="151515"/>
                </a:solidFill>
                <a:latin typeface="Arial"/>
              </a:defRPr>
            </a:pPr>
            <a:r>
              <a:t>Следующий этап — реальные данные.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46504"/>
            <a:ext cx="10607040" cy="45720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600" b="0">
                <a:solidFill>
                  <a:srgbClr val="6D7179"/>
                </a:solidFill>
                <a:latin typeface="Arial"/>
              </a:defRPr>
            </a:pPr>
            <a:r>
              <a:t>Доращиваем качество там, где оно действительно важно.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73952"/>
            <a:ext cx="10817352" cy="11887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528816"/>
            <a:ext cx="6400800" cy="18288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000" b="0">
                <a:solidFill>
                  <a:srgbClr val="6D7179"/>
                </a:solidFill>
                <a:latin typeface="Arial"/>
              </a:defRPr>
            </a:pPr>
            <a:r>
              <a:t>AgroVision — локальное демонстрационное решение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510528"/>
            <a:ext cx="1371600" cy="22860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 algn="r">
              <a:lnSpc>
                <a:spcPct val="108000"/>
              </a:lnSpc>
              <a:defRPr sz="1000" b="1">
                <a:solidFill>
                  <a:srgbClr val="6D7179"/>
                </a:solidFill>
                <a:latin typeface="Arial"/>
              </a:defRPr>
            </a:pPr>
            <a:r>
              <a:t>14 /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50592"/>
            <a:ext cx="128016" cy="128016"/>
          </a:xfrm>
          <a:prstGeom prst="roundRect">
            <a:avLst>
              <a:gd name="adj" fmla="val 11000"/>
            </a:avLst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423160"/>
            <a:ext cx="4407407" cy="7132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151515"/>
                </a:solidFill>
                <a:latin typeface="Arial"/>
              </a:defRPr>
            </a:pPr>
            <a:r>
              <a:t>P0: работающая обработка, рамки, подсчёт, контроль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73552"/>
            <a:ext cx="128016" cy="128016"/>
          </a:xfrm>
          <a:prstGeom prst="roundRect">
            <a:avLst>
              <a:gd name="adj" fmla="val 11000"/>
            </a:avLst>
          </a:prstGeom>
          <a:solidFill>
            <a:srgbClr val="2C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246120"/>
            <a:ext cx="4407407" cy="7132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151515"/>
                </a:solidFill>
                <a:latin typeface="Arial"/>
              </a:defRPr>
            </a:pPr>
            <a:r>
              <a:t>P1: дневник, исправления, партии и рекомендации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96512"/>
            <a:ext cx="128016" cy="128016"/>
          </a:xfrm>
          <a:prstGeom prst="roundRect">
            <a:avLst>
              <a:gd name="adj" fmla="val 11000"/>
            </a:avLst>
          </a:prstGeom>
          <a:solidFill>
            <a:srgbClr val="2C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069080"/>
            <a:ext cx="4407407" cy="7132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151515"/>
                </a:solidFill>
                <a:latin typeface="Arial"/>
              </a:defRPr>
            </a:pPr>
            <a:r>
              <a:t>P2: реальные фото, экспертная разметка, YOLO/segmentation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19472"/>
            <a:ext cx="128016" cy="128016"/>
          </a:xfrm>
          <a:prstGeom prst="roundRect">
            <a:avLst>
              <a:gd name="adj" fmla="val 11000"/>
            </a:avLst>
          </a:prstGeom>
          <a:solidFill>
            <a:srgbClr val="2C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4892040"/>
            <a:ext cx="4407407" cy="7132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151515"/>
                </a:solidFill>
                <a:latin typeface="Arial"/>
              </a:defRPr>
            </a:pPr>
            <a:r>
              <a:t>Далее: роли, безопасность, инфраструктура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9904" y="2514600"/>
            <a:ext cx="4956048" cy="694944"/>
          </a:xfrm>
          <a:prstGeom prst="roundRect">
            <a:avLst>
              <a:gd name="adj" fmla="val 11000"/>
            </a:avLst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91072" y="2670048"/>
            <a:ext cx="557784" cy="365760"/>
          </a:xfrm>
          <a:prstGeom prst="roundRect">
            <a:avLst>
              <a:gd name="adj" fmla="val 11000"/>
            </a:avLst>
          </a:prstGeom>
          <a:solidFill>
            <a:srgbClr val="2C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2752344"/>
            <a:ext cx="411480" cy="192024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1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2715768"/>
            <a:ext cx="3566160" cy="32004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700" b="1">
                <a:solidFill>
                  <a:srgbClr val="151515"/>
                </a:solidFill>
                <a:latin typeface="Arial"/>
              </a:defRPr>
            </a:pPr>
            <a:r>
              <a:t>Рабочий CV и оценка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9904" y="3383280"/>
            <a:ext cx="4956048" cy="694944"/>
          </a:xfrm>
          <a:prstGeom prst="roundRect">
            <a:avLst>
              <a:gd name="adj" fmla="val 11000"/>
            </a:avLst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91072" y="3538728"/>
            <a:ext cx="557784" cy="365760"/>
          </a:xfrm>
          <a:prstGeom prst="roundRect">
            <a:avLst>
              <a:gd name="adj" fmla="val 11000"/>
            </a:avLst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3621024"/>
            <a:ext cx="411480" cy="192024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1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68312" y="3584448"/>
            <a:ext cx="3566160" cy="32004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700" b="1">
                <a:solidFill>
                  <a:srgbClr val="151515"/>
                </a:solidFill>
                <a:latin typeface="Arial"/>
              </a:defRPr>
            </a:pPr>
            <a:r>
              <a:t>История и партии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9904" y="4251960"/>
            <a:ext cx="4956048" cy="694944"/>
          </a:xfrm>
          <a:prstGeom prst="roundRect">
            <a:avLst>
              <a:gd name="adj" fmla="val 11000"/>
            </a:avLst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91072" y="4407408"/>
            <a:ext cx="557784" cy="365760"/>
          </a:xfrm>
          <a:prstGeom prst="roundRect">
            <a:avLst>
              <a:gd name="adj" fmla="val 11000"/>
            </a:avLst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4489704"/>
            <a:ext cx="411480" cy="192024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100" b="1">
                <a:solidFill>
                  <a:srgbClr val="FFFFFF"/>
                </a:solidFill>
                <a:latin typeface="Arial"/>
              </a:defRPr>
            </a:pPr>
            <a:r>
              <a:t>P2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68312" y="4453128"/>
            <a:ext cx="3566160" cy="32004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700" b="1">
                <a:solidFill>
                  <a:srgbClr val="151515"/>
                </a:solidFill>
                <a:latin typeface="Arial"/>
              </a:defRPr>
            </a:pPr>
            <a:r>
              <a:t>Реальные фото + ML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89904" y="5120640"/>
            <a:ext cx="4956048" cy="694944"/>
          </a:xfrm>
          <a:prstGeom prst="roundRect">
            <a:avLst>
              <a:gd name="adj" fmla="val 11000"/>
            </a:avLst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91072" y="5276088"/>
            <a:ext cx="557784" cy="365760"/>
          </a:xfrm>
          <a:prstGeom prst="roundRect">
            <a:avLst>
              <a:gd name="adj" fmla="val 11000"/>
            </a:avLst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64224" y="5358383"/>
            <a:ext cx="411480" cy="192024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100" b="1">
                <a:solidFill>
                  <a:srgbClr val="FFFFFF"/>
                </a:solidFill>
                <a:latin typeface="Arial"/>
              </a:defRPr>
            </a:pPr>
            <a:r>
              <a:t>P3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68312" y="5321807"/>
            <a:ext cx="3566160" cy="32004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700" b="1">
                <a:solidFill>
                  <a:srgbClr val="151515"/>
                </a:solidFill>
                <a:latin typeface="Arial"/>
              </a:defRPr>
            </a:pPr>
            <a:r>
              <a:t>Роли и безопасность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65760"/>
            <a:ext cx="146304" cy="146304"/>
          </a:xfrm>
          <a:prstGeom prst="roundRect">
            <a:avLst>
              <a:gd name="adj" fmla="val 11000"/>
            </a:avLst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47472"/>
            <a:ext cx="3657600" cy="2560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200" b="1">
                <a:solidFill>
                  <a:srgbClr val="6D7179"/>
                </a:solidFill>
                <a:latin typeface="Arial"/>
              </a:defRPr>
            </a:pPr>
            <a:r>
              <a:t>AGROVISION  /  ХАКАТОН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347472"/>
            <a:ext cx="3383280" cy="2560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 algn="r">
              <a:lnSpc>
                <a:spcPct val="108000"/>
              </a:lnSpc>
              <a:defRPr sz="1200" b="1">
                <a:solidFill>
                  <a:srgbClr val="6D7179"/>
                </a:solidFill>
                <a:latin typeface="Arial"/>
              </a:defRPr>
            </a:pPr>
            <a:r>
              <a:t>15 / КОМАНДА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14400"/>
            <a:ext cx="10789920" cy="73152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3600" b="1">
                <a:solidFill>
                  <a:srgbClr val="151515"/>
                </a:solidFill>
                <a:latin typeface="Arial"/>
              </a:defRPr>
            </a:pPr>
            <a:r>
              <a:t>Роли есть. ФИО — заполняет команда.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46504"/>
            <a:ext cx="10607040" cy="45720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600" b="0">
                <a:solidFill>
                  <a:srgbClr val="6D7179"/>
                </a:solidFill>
                <a:latin typeface="Arial"/>
              </a:defRPr>
            </a:pPr>
            <a:r>
              <a:t>Не придумываем участников проекта.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73952"/>
            <a:ext cx="10817352" cy="11887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528816"/>
            <a:ext cx="6400800" cy="18288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000" b="0">
                <a:solidFill>
                  <a:srgbClr val="6D7179"/>
                </a:solidFill>
                <a:latin typeface="Arial"/>
              </a:defRPr>
            </a:pPr>
            <a:r>
              <a:t>AgroVision — локальное демонстрационное решение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510528"/>
            <a:ext cx="1371600" cy="22860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 algn="r">
              <a:lnSpc>
                <a:spcPct val="108000"/>
              </a:lnSpc>
              <a:defRPr sz="1000" b="1">
                <a:solidFill>
                  <a:srgbClr val="6D7179"/>
                </a:solidFill>
                <a:latin typeface="Arial"/>
              </a:defRPr>
            </a:pPr>
            <a:r>
              <a:t>15 /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50592"/>
            <a:ext cx="128016" cy="128016"/>
          </a:xfrm>
          <a:prstGeom prst="roundRect">
            <a:avLst>
              <a:gd name="adj" fmla="val 11000"/>
            </a:avLst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423160"/>
            <a:ext cx="4407407" cy="7132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151515"/>
                </a:solidFill>
                <a:latin typeface="Arial"/>
              </a:defRPr>
            </a:pPr>
            <a:r>
              <a:t>Продукт и аналитика — ФИО: __________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73552"/>
            <a:ext cx="128016" cy="128016"/>
          </a:xfrm>
          <a:prstGeom prst="roundRect">
            <a:avLst>
              <a:gd name="adj" fmla="val 11000"/>
            </a:avLst>
          </a:prstGeom>
          <a:solidFill>
            <a:srgbClr val="2C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246120"/>
            <a:ext cx="4407407" cy="7132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151515"/>
                </a:solidFill>
                <a:latin typeface="Arial"/>
              </a:defRPr>
            </a:pPr>
            <a:r>
              <a:t>Frontend / UX — ФИО: __________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96512"/>
            <a:ext cx="128016" cy="128016"/>
          </a:xfrm>
          <a:prstGeom prst="roundRect">
            <a:avLst>
              <a:gd name="adj" fmla="val 11000"/>
            </a:avLst>
          </a:prstGeom>
          <a:solidFill>
            <a:srgbClr val="2C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069080"/>
            <a:ext cx="4407407" cy="7132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151515"/>
                </a:solidFill>
                <a:latin typeface="Arial"/>
              </a:defRPr>
            </a:pPr>
            <a:r>
              <a:t>Python / CV / тестирование — ФИО: __________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19472"/>
            <a:ext cx="128016" cy="128016"/>
          </a:xfrm>
          <a:prstGeom prst="roundRect">
            <a:avLst>
              <a:gd name="adj" fmla="val 11000"/>
            </a:avLst>
          </a:prstGeom>
          <a:solidFill>
            <a:srgbClr val="2C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4892040"/>
            <a:ext cx="4407407" cy="7132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151515"/>
                </a:solidFill>
                <a:latin typeface="Arial"/>
              </a:defRPr>
            </a:pPr>
            <a:r>
              <a:t>Агроконсультирование / защита — ФИО: __________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0176" y="2496312"/>
            <a:ext cx="5230368" cy="3401568"/>
          </a:xfrm>
          <a:prstGeom prst="roundRect">
            <a:avLst>
              <a:gd name="adj" fmla="val 11000"/>
            </a:avLst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5352" y="2752344"/>
            <a:ext cx="4709160" cy="237744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400" b="1">
                <a:solidFill>
                  <a:srgbClr val="2C6EF2"/>
                </a:solidFill>
                <a:latin typeface="Arial"/>
              </a:defRPr>
            </a:pPr>
            <a:r>
              <a:t>РЕДАКТИРУЕМЫЕ ПОЛЯ КОМАНДЫ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227832"/>
            <a:ext cx="4526280" cy="15544"/>
          </a:xfrm>
          <a:prstGeom prst="rect">
            <a:avLst/>
          </a:prstGeom>
          <a:solidFill>
            <a:srgbClr val="C5C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2953512"/>
            <a:ext cx="4297680" cy="27432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400" b="0">
                <a:solidFill>
                  <a:srgbClr val="6D7179"/>
                </a:solidFill>
                <a:latin typeface="Arial"/>
              </a:defRPr>
            </a:pPr>
            <a:r>
              <a:t>ФИО  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803904"/>
            <a:ext cx="4526280" cy="15544"/>
          </a:xfrm>
          <a:prstGeom prst="rect">
            <a:avLst/>
          </a:prstGeom>
          <a:solidFill>
            <a:srgbClr val="C5C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3529584"/>
            <a:ext cx="4297680" cy="27432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400" b="0">
                <a:solidFill>
                  <a:srgbClr val="6D7179"/>
                </a:solidFill>
                <a:latin typeface="Arial"/>
              </a:defRPr>
            </a:pPr>
            <a:r>
              <a:t>ФИО  __________________________________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4379976"/>
            <a:ext cx="4526280" cy="15544"/>
          </a:xfrm>
          <a:prstGeom prst="rect">
            <a:avLst/>
          </a:prstGeom>
          <a:solidFill>
            <a:srgbClr val="C5C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91072" y="4105656"/>
            <a:ext cx="4297680" cy="27432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400" b="0">
                <a:solidFill>
                  <a:srgbClr val="6D7179"/>
                </a:solidFill>
                <a:latin typeface="Arial"/>
              </a:defRPr>
            </a:pPr>
            <a:r>
              <a:t>ФИО  __________________________________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956048"/>
            <a:ext cx="4526280" cy="15544"/>
          </a:xfrm>
          <a:prstGeom prst="rect">
            <a:avLst/>
          </a:prstGeom>
          <a:solidFill>
            <a:srgbClr val="C5C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91072" y="4681728"/>
            <a:ext cx="4297680" cy="27432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400" b="0">
                <a:solidFill>
                  <a:srgbClr val="6D7179"/>
                </a:solidFill>
                <a:latin typeface="Arial"/>
              </a:defRPr>
            </a:pPr>
            <a:r>
              <a:t>ФИО  __________________________________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65760"/>
            <a:ext cx="146304" cy="146304"/>
          </a:xfrm>
          <a:prstGeom prst="roundRect">
            <a:avLst>
              <a:gd name="adj" fmla="val 11000"/>
            </a:avLst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47472"/>
            <a:ext cx="3657600" cy="2560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200" b="1">
                <a:solidFill>
                  <a:srgbClr val="6D7179"/>
                </a:solidFill>
                <a:latin typeface="Arial"/>
              </a:defRPr>
            </a:pPr>
            <a:r>
              <a:t>AGROVISION  /  ХАКАТОН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347472"/>
            <a:ext cx="3383280" cy="2560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 algn="r">
              <a:lnSpc>
                <a:spcPct val="108000"/>
              </a:lnSpc>
              <a:defRPr sz="1200" b="1">
                <a:solidFill>
                  <a:srgbClr val="6D7179"/>
                </a:solidFill>
                <a:latin typeface="Arial"/>
              </a:defRPr>
            </a:pPr>
            <a:r>
              <a:t>16 /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14400"/>
            <a:ext cx="10789920" cy="73152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3600" b="1">
                <a:solidFill>
                  <a:srgbClr val="151515"/>
                </a:solidFill>
                <a:latin typeface="Arial"/>
              </a:defRPr>
            </a:pPr>
            <a:r>
              <a:t>Открываем продукт. Показываем работу.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46504"/>
            <a:ext cx="10607040" cy="45720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600" b="0">
                <a:solidFill>
                  <a:srgbClr val="6D7179"/>
                </a:solidFill>
                <a:latin typeface="Arial"/>
              </a:defRPr>
            </a:pPr>
            <a:r>
              <a:t>Сценарий защиты на 5–7 минут, с новым изображением.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73952"/>
            <a:ext cx="10817352" cy="11887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528816"/>
            <a:ext cx="6400800" cy="18288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000" b="0">
                <a:solidFill>
                  <a:srgbClr val="6D7179"/>
                </a:solidFill>
                <a:latin typeface="Arial"/>
              </a:defRPr>
            </a:pPr>
            <a:r>
              <a:t>AgroVision — локальное демонстрационное решение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510528"/>
            <a:ext cx="1371600" cy="22860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 algn="r">
              <a:lnSpc>
                <a:spcPct val="108000"/>
              </a:lnSpc>
              <a:defRPr sz="1000" b="1">
                <a:solidFill>
                  <a:srgbClr val="6D7179"/>
                </a:solidFill>
                <a:latin typeface="Arial"/>
              </a:defRPr>
            </a:pPr>
            <a:r>
              <a:t>16 /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50592"/>
            <a:ext cx="128016" cy="128016"/>
          </a:xfrm>
          <a:prstGeom prst="roundRect">
            <a:avLst>
              <a:gd name="adj" fmla="val 11000"/>
            </a:avLst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423160"/>
            <a:ext cx="4407407" cy="7132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151515"/>
                </a:solidFill>
                <a:latin typeface="Arial"/>
              </a:defRPr>
            </a:pPr>
            <a:r>
              <a:t>Открыть http://127.0.0.1:8000/app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73552"/>
            <a:ext cx="128016" cy="128016"/>
          </a:xfrm>
          <a:prstGeom prst="roundRect">
            <a:avLst>
              <a:gd name="adj" fmla="val 11000"/>
            </a:avLst>
          </a:prstGeom>
          <a:solidFill>
            <a:srgbClr val="2C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246120"/>
            <a:ext cx="4407407" cy="7132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151515"/>
                </a:solidFill>
                <a:latin typeface="Arial"/>
              </a:defRPr>
            </a:pPr>
            <a:r>
              <a:t>Загрузить фото → увидеть счётчики и рамки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96512"/>
            <a:ext cx="128016" cy="128016"/>
          </a:xfrm>
          <a:prstGeom prst="roundRect">
            <a:avLst>
              <a:gd name="adj" fmla="val 11000"/>
            </a:avLst>
          </a:prstGeom>
          <a:solidFill>
            <a:srgbClr val="2C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069080"/>
            <a:ext cx="4407407" cy="7132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151515"/>
                </a:solidFill>
                <a:latin typeface="Arial"/>
              </a:defRPr>
            </a:pPr>
            <a:r>
              <a:t>Исправить объект → сохранить в дневник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19472"/>
            <a:ext cx="128016" cy="128016"/>
          </a:xfrm>
          <a:prstGeom prst="roundRect">
            <a:avLst>
              <a:gd name="adj" fmla="val 11000"/>
            </a:avLst>
          </a:prstGeom>
          <a:solidFill>
            <a:srgbClr val="2C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4892040"/>
            <a:ext cx="4407407" cy="713232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151515"/>
                </a:solidFill>
                <a:latin typeface="Arial"/>
              </a:defRPr>
            </a:pPr>
            <a:r>
              <a:t>Создать черновик лота → показать метрики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98464" y="2423160"/>
            <a:ext cx="5276088" cy="3593592"/>
          </a:xfrm>
          <a:prstGeom prst="roundRect">
            <a:avLst>
              <a:gd name="adj" fmla="val 11000"/>
            </a:avLst>
          </a:prstGeom>
          <a:solidFill>
            <a:srgbClr val="15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788920"/>
            <a:ext cx="4663440" cy="246888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400" b="1">
                <a:solidFill>
                  <a:srgbClr val="BFD5F9"/>
                </a:solidFill>
                <a:latin typeface="Arial"/>
              </a:defRPr>
            </a:pPr>
            <a:r>
              <a:t>LIVE / LOCAL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383280"/>
            <a:ext cx="4690872" cy="64008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3100" b="1">
                <a:solidFill>
                  <a:srgbClr val="FFFFFF"/>
                </a:solidFill>
                <a:latin typeface="Arial"/>
              </a:defRPr>
            </a:pPr>
            <a:r>
              <a:t>127.0.0.1:8000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4" y="4379976"/>
            <a:ext cx="4581144" cy="73152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FFFFFF"/>
                </a:solidFill>
                <a:latin typeface="Arial"/>
              </a:defRPr>
            </a:pPr>
            <a:r>
              <a:t>Фото  →  разметка  →  ревизия</a:t>
            </a:r>
          </a:p>
          <a:p>
            <a:pPr>
              <a:lnSpc>
                <a:spcPct val="108000"/>
              </a:lnSpc>
              <a:defRPr sz="1800" b="0">
                <a:solidFill>
                  <a:srgbClr val="FFFFFF"/>
                </a:solidFill>
                <a:latin typeface="Arial"/>
              </a:defRPr>
            </a:pPr>
            <a:r>
              <a:t>       →  дневник  →  черновик лота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